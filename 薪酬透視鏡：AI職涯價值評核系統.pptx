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66" r:id="rId3"/>
    <p:sldId id="257" r:id="rId4"/>
    <p:sldId id="258" r:id="rId5"/>
    <p:sldId id="267" r:id="rId6"/>
    <p:sldId id="272" r:id="rId7"/>
    <p:sldId id="270" r:id="rId8"/>
    <p:sldId id="268" r:id="rId9"/>
    <p:sldId id="259" r:id="rId10"/>
    <p:sldId id="260" r:id="rId11"/>
    <p:sldId id="271" r:id="rId12"/>
    <p:sldId id="262" r:id="rId13"/>
    <p:sldId id="269" r:id="rId14"/>
    <p:sldId id="261" r:id="rId15"/>
    <p:sldId id="263" r:id="rId16"/>
    <p:sldId id="264" r:id="rId17"/>
    <p:sldId id="265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90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37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376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1660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80DF4-D529-B10F-5EE6-C9DE250A0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775CFA-974B-8EA3-8C50-977828B228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21DC61-4E26-A535-7D06-BEDE7445C1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DF0B5-FA80-93B9-75A0-E6670A3F24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08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3904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.png"/><Relationship Id="rId9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image" Target="../media/image2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18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17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19" Type="http://schemas.openxmlformats.org/officeDocument/2006/relationships/image" Target="../media/image60.png"/><Relationship Id="rId4" Type="http://schemas.openxmlformats.org/officeDocument/2006/relationships/image" Target="../media/image2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3" Type="http://schemas.openxmlformats.org/officeDocument/2006/relationships/image" Target="../media/image1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2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60.png"/><Relationship Id="rId18" Type="http://schemas.openxmlformats.org/officeDocument/2006/relationships/image" Target="../media/image83.png"/><Relationship Id="rId3" Type="http://schemas.openxmlformats.org/officeDocument/2006/relationships/image" Target="../media/image1.png"/><Relationship Id="rId21" Type="http://schemas.openxmlformats.org/officeDocument/2006/relationships/image" Target="../media/image86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17" Type="http://schemas.openxmlformats.org/officeDocument/2006/relationships/image" Target="../media/image82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81.png"/><Relationship Id="rId20" Type="http://schemas.openxmlformats.org/officeDocument/2006/relationships/image" Target="../media/image8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5" Type="http://schemas.openxmlformats.org/officeDocument/2006/relationships/image" Target="../media/image80.png"/><Relationship Id="rId23" Type="http://schemas.openxmlformats.org/officeDocument/2006/relationships/image" Target="../media/image88.png"/><Relationship Id="rId10" Type="http://schemas.openxmlformats.org/officeDocument/2006/relationships/image" Target="../media/image76.png"/><Relationship Id="rId19" Type="http://schemas.openxmlformats.org/officeDocument/2006/relationships/image" Target="../media/image84.png"/><Relationship Id="rId4" Type="http://schemas.openxmlformats.org/officeDocument/2006/relationships/image" Target="../media/image2.png"/><Relationship Id="rId9" Type="http://schemas.openxmlformats.org/officeDocument/2006/relationships/image" Target="../media/image75.png"/><Relationship Id="rId14" Type="http://schemas.openxmlformats.org/officeDocument/2006/relationships/image" Target="../media/image79.png"/><Relationship Id="rId22" Type="http://schemas.openxmlformats.org/officeDocument/2006/relationships/image" Target="../media/image8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png"/><Relationship Id="rId3" Type="http://schemas.openxmlformats.org/officeDocument/2006/relationships/image" Target="../media/image1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17" Type="http://schemas.openxmlformats.org/officeDocument/2006/relationships/image" Target="../media/image101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0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5" Type="http://schemas.openxmlformats.org/officeDocument/2006/relationships/image" Target="../media/image99.png"/><Relationship Id="rId10" Type="http://schemas.openxmlformats.org/officeDocument/2006/relationships/image" Target="../media/image94.png"/><Relationship Id="rId4" Type="http://schemas.openxmlformats.org/officeDocument/2006/relationships/image" Target="../media/image2.png"/><Relationship Id="rId9" Type="http://schemas.openxmlformats.org/officeDocument/2006/relationships/image" Target="../media/image93.png"/><Relationship Id="rId14" Type="http://schemas.openxmlformats.org/officeDocument/2006/relationships/image" Target="../media/image9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10.png"/><Relationship Id="rId3" Type="http://schemas.openxmlformats.org/officeDocument/2006/relationships/image" Target="../media/image1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17" Type="http://schemas.openxmlformats.org/officeDocument/2006/relationships/image" Target="../media/image114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102.png"/><Relationship Id="rId15" Type="http://schemas.openxmlformats.org/officeDocument/2006/relationships/image" Target="../media/image112.png"/><Relationship Id="rId10" Type="http://schemas.openxmlformats.org/officeDocument/2006/relationships/image" Target="../media/image107.png"/><Relationship Id="rId4" Type="http://schemas.openxmlformats.org/officeDocument/2006/relationships/image" Target="../media/image2.png"/><Relationship Id="rId9" Type="http://schemas.openxmlformats.org/officeDocument/2006/relationships/image" Target="../media/image106.png"/><Relationship Id="rId14" Type="http://schemas.openxmlformats.org/officeDocument/2006/relationships/image" Target="../media/image1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1.png"/><Relationship Id="rId7" Type="http://schemas.openxmlformats.org/officeDocument/2006/relationships/image" Target="../media/image117.png"/><Relationship Id="rId12" Type="http://schemas.openxmlformats.org/officeDocument/2006/relationships/image" Target="../media/image1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6.png"/><Relationship Id="rId11" Type="http://schemas.openxmlformats.org/officeDocument/2006/relationships/image" Target="../media/image121.png"/><Relationship Id="rId5" Type="http://schemas.openxmlformats.org/officeDocument/2006/relationships/image" Target="../media/image115.png"/><Relationship Id="rId10" Type="http://schemas.openxmlformats.org/officeDocument/2006/relationships/image" Target="../media/image120.png"/><Relationship Id="rId4" Type="http://schemas.openxmlformats.org/officeDocument/2006/relationships/image" Target="../media/image2.png"/><Relationship Id="rId9" Type="http://schemas.openxmlformats.org/officeDocument/2006/relationships/image" Target="../media/image11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13" Type="http://schemas.openxmlformats.org/officeDocument/2006/relationships/image" Target="../media/image132.png"/><Relationship Id="rId3" Type="http://schemas.openxmlformats.org/officeDocument/2006/relationships/image" Target="../media/image1.png"/><Relationship Id="rId7" Type="http://schemas.openxmlformats.org/officeDocument/2006/relationships/image" Target="../media/image126.png"/><Relationship Id="rId12" Type="http://schemas.openxmlformats.org/officeDocument/2006/relationships/image" Target="../media/image131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5.png"/><Relationship Id="rId11" Type="http://schemas.openxmlformats.org/officeDocument/2006/relationships/image" Target="../media/image130.png"/><Relationship Id="rId5" Type="http://schemas.openxmlformats.org/officeDocument/2006/relationships/image" Target="../media/image124.png"/><Relationship Id="rId15" Type="http://schemas.openxmlformats.org/officeDocument/2006/relationships/image" Target="../media/image134.png"/><Relationship Id="rId10" Type="http://schemas.openxmlformats.org/officeDocument/2006/relationships/image" Target="../media/image129.png"/><Relationship Id="rId4" Type="http://schemas.openxmlformats.org/officeDocument/2006/relationships/image" Target="../media/image123.png"/><Relationship Id="rId9" Type="http://schemas.openxmlformats.org/officeDocument/2006/relationships/image" Target="../media/image128.png"/><Relationship Id="rId14" Type="http://schemas.openxmlformats.org/officeDocument/2006/relationships/image" Target="../media/image13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image" Target="../media/image144.png"/><Relationship Id="rId18" Type="http://schemas.openxmlformats.org/officeDocument/2006/relationships/image" Target="../media/image149.png"/><Relationship Id="rId3" Type="http://schemas.openxmlformats.org/officeDocument/2006/relationships/image" Target="../media/image1.png"/><Relationship Id="rId7" Type="http://schemas.openxmlformats.org/officeDocument/2006/relationships/image" Target="../media/image138.png"/><Relationship Id="rId12" Type="http://schemas.openxmlformats.org/officeDocument/2006/relationships/image" Target="../media/image143.png"/><Relationship Id="rId17" Type="http://schemas.openxmlformats.org/officeDocument/2006/relationships/image" Target="../media/image148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7.png"/><Relationship Id="rId11" Type="http://schemas.openxmlformats.org/officeDocument/2006/relationships/image" Target="../media/image142.png"/><Relationship Id="rId5" Type="http://schemas.openxmlformats.org/officeDocument/2006/relationships/image" Target="../media/image136.png"/><Relationship Id="rId15" Type="http://schemas.openxmlformats.org/officeDocument/2006/relationships/image" Target="../media/image146.png"/><Relationship Id="rId10" Type="http://schemas.openxmlformats.org/officeDocument/2006/relationships/image" Target="../media/image141.png"/><Relationship Id="rId4" Type="http://schemas.openxmlformats.org/officeDocument/2006/relationships/image" Target="../media/image2.png"/><Relationship Id="rId9" Type="http://schemas.openxmlformats.org/officeDocument/2006/relationships/image" Target="../media/image140.png"/><Relationship Id="rId14" Type="http://schemas.openxmlformats.org/officeDocument/2006/relationships/image" Target="../media/image14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picture-search.skywork.ai/aippt/file_template/1953702771894779904/backgrounds/slide1_0d175f_df75949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959429" y="411361"/>
            <a:ext cx="150876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創新科技 · 職涯規劃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950863" y="2156371"/>
            <a:ext cx="27432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3600" b="1" dirty="0">
                <a:solidFill>
                  <a:srgbClr val="4A90A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薪酬探測家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3341638" y="2156371"/>
            <a:ext cx="54864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3600" b="1" dirty="0">
                <a:solidFill>
                  <a:srgbClr val="2D374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：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3798838" y="2156371"/>
            <a:ext cx="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
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950863" y="2750641"/>
            <a:ext cx="477774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3600" b="1" dirty="0">
                <a:solidFill>
                  <a:srgbClr val="4A90A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基於STEM多維模型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5037088" y="2750641"/>
            <a:ext cx="54864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3600" b="1" dirty="0">
                <a:solidFill>
                  <a:srgbClr val="2D374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的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5494288" y="2750641"/>
            <a:ext cx="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
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950863" y="3344912"/>
            <a:ext cx="53721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3600" b="1" dirty="0">
                <a:solidFill>
                  <a:srgbClr val="4A90A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</a:t>
            </a:r>
            <a:endParaRPr lang="en-US" sz="3600" dirty="0"/>
          </a:p>
        </p:txBody>
      </p:sp>
      <p:sp>
        <p:nvSpPr>
          <p:cNvPr id="12" name="Text 8"/>
          <p:cNvSpPr/>
          <p:nvPr/>
        </p:nvSpPr>
        <p:spPr>
          <a:xfrm>
            <a:off x="1503313" y="3344912"/>
            <a:ext cx="438912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3600" b="1" dirty="0">
                <a:solidFill>
                  <a:srgbClr val="2D374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職涯價值評核系統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950863" y="5597426"/>
            <a:ext cx="10972800" cy="27994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05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AI結合STEM技術，打造透明、精準的薪資評核與職涯規劃平台</a:t>
            </a:r>
            <a:endParaRPr lang="en-US" sz="1575" dirty="0"/>
          </a:p>
        </p:txBody>
      </p:sp>
      <p:sp>
        <p:nvSpPr>
          <p:cNvPr id="14" name="Text 10"/>
          <p:cNvSpPr/>
          <p:nvPr/>
        </p:nvSpPr>
        <p:spPr>
          <a:xfrm>
            <a:off x="10281017" y="6301829"/>
            <a:ext cx="96012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2025-11-01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picture-search.skywork.ai/aippt/file_template/1953702771894779904/backgrounds/slide1_0d175f_df75949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50863" y="1981158"/>
            <a:ext cx="10010214" cy="5048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4680"/>
              </a:lnSpc>
            </a:pPr>
            <a:r>
              <a:rPr lang="en-US" sz="4800" b="1" dirty="0" err="1">
                <a:solidFill>
                  <a:srgbClr val="4A9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AI驅動的個人化職涯暨薪資評核系統</a:t>
            </a:r>
            <a:br>
              <a:rPr lang="en-US" sz="4800" b="1" dirty="0">
                <a:solidFill>
                  <a:srgbClr val="4A9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4800" b="1" dirty="0">
              <a:solidFill>
                <a:srgbClr val="4A90A4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>
              <a:lnSpc>
                <a:spcPts val="4680"/>
              </a:lnSpc>
            </a:pPr>
            <a:r>
              <a:rPr lang="en-US" sz="4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</a:t>
            </a:r>
            <a:r>
              <a:rPr lang="en-US" sz="4800" b="1" dirty="0" err="1"/>
              <a:t>薪酬透視鏡</a:t>
            </a:r>
            <a:r>
              <a:rPr lang="en-US" sz="4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」</a:t>
            </a:r>
            <a:endParaRPr lang="en-US" sz="4800" b="1" dirty="0"/>
          </a:p>
        </p:txBody>
      </p:sp>
      <p:sp>
        <p:nvSpPr>
          <p:cNvPr id="6" name="Text 2"/>
          <p:cNvSpPr/>
          <p:nvPr/>
        </p:nvSpPr>
        <p:spPr>
          <a:xfrm>
            <a:off x="5040511" y="2232571"/>
            <a:ext cx="0" cy="5048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950863" y="2826841"/>
            <a:ext cx="4389120" cy="5048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4608463" y="2826841"/>
            <a:ext cx="0" cy="5048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DD1D2B-DE00-2BD8-EC95-9EF7E6E07570}"/>
              </a:ext>
            </a:extLst>
          </p:cNvPr>
          <p:cNvSpPr txBox="1"/>
          <p:nvPr/>
        </p:nvSpPr>
        <p:spPr>
          <a:xfrm>
            <a:off x="3587373" y="5580185"/>
            <a:ext cx="47371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sz="2000" dirty="0"/>
              <a:t>李碩</a:t>
            </a:r>
            <a:r>
              <a:rPr lang="zh-TW" altLang="en-US" sz="2000" dirty="0"/>
              <a:t>          </a:t>
            </a:r>
            <a:r>
              <a:rPr lang="en-TW" sz="2000" dirty="0"/>
              <a:t>郭定衡</a:t>
            </a:r>
            <a:r>
              <a:rPr lang="zh-TW" altLang="en-US" sz="2000" dirty="0"/>
              <a:t>          </a:t>
            </a:r>
            <a:r>
              <a:rPr lang="en-TW" sz="2000" dirty="0"/>
              <a:t>郭祐綸</a:t>
            </a:r>
            <a:r>
              <a:rPr lang="zh-TW" altLang="en-US" sz="2000" dirty="0"/>
              <a:t>          </a:t>
            </a:r>
            <a:r>
              <a:rPr lang="en-TW" sz="2000" dirty="0"/>
              <a:t>李慕懷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picture-search.skywork.ai/aippt/file_template/1953702771894779904/backgrounds/slide1_0d175f_df75949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863" y="2109788"/>
            <a:ext cx="285750" cy="209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863" y="2633663"/>
            <a:ext cx="285750" cy="2095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863" y="3157538"/>
            <a:ext cx="285750" cy="2095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863" y="3681413"/>
            <a:ext cx="285750" cy="2095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863" y="4205288"/>
            <a:ext cx="285750" cy="2095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0863" y="4729163"/>
            <a:ext cx="285750" cy="2095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0863" y="5253038"/>
            <a:ext cx="285750" cy="209550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950863" y="1028700"/>
            <a:ext cx="8534400" cy="5656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455"/>
              </a:lnSpc>
              <a:buNone/>
            </a:pPr>
            <a:r>
              <a:rPr lang="en-US" sz="4050" dirty="0">
                <a:solidFill>
                  <a:srgbClr val="4A9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目錄</a:t>
            </a:r>
            <a:endParaRPr lang="en-US" sz="4050" dirty="0"/>
          </a:p>
        </p:txBody>
      </p:sp>
      <p:sp>
        <p:nvSpPr>
          <p:cNvPr id="13" name="Text 2"/>
          <p:cNvSpPr/>
          <p:nvPr/>
        </p:nvSpPr>
        <p:spPr>
          <a:xfrm>
            <a:off x="1379488" y="2057400"/>
            <a:ext cx="176022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提案動機與目的</a:t>
            </a:r>
            <a:endParaRPr lang="en-US" sz="1650" dirty="0"/>
          </a:p>
        </p:txBody>
      </p:sp>
      <p:sp>
        <p:nvSpPr>
          <p:cNvPr id="14" name="Text 3"/>
          <p:cNvSpPr/>
          <p:nvPr/>
        </p:nvSpPr>
        <p:spPr>
          <a:xfrm>
            <a:off x="1379488" y="2581275"/>
            <a:ext cx="100584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痛點分析</a:t>
            </a:r>
            <a:endParaRPr lang="en-US" sz="1650" dirty="0"/>
          </a:p>
        </p:txBody>
      </p:sp>
      <p:sp>
        <p:nvSpPr>
          <p:cNvPr id="15" name="Text 4"/>
          <p:cNvSpPr/>
          <p:nvPr/>
        </p:nvSpPr>
        <p:spPr>
          <a:xfrm>
            <a:off x="1379488" y="3105150"/>
            <a:ext cx="226314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執行方向與技術實現</a:t>
            </a:r>
            <a:endParaRPr lang="en-US" sz="1650" dirty="0"/>
          </a:p>
        </p:txBody>
      </p:sp>
      <p:sp>
        <p:nvSpPr>
          <p:cNvPr id="16" name="Text 5"/>
          <p:cNvSpPr/>
          <p:nvPr/>
        </p:nvSpPr>
        <p:spPr>
          <a:xfrm>
            <a:off x="1379488" y="3629025"/>
            <a:ext cx="267462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STEM跨域整合數學模型</a:t>
            </a:r>
            <a:endParaRPr lang="en-US" sz="1650" dirty="0"/>
          </a:p>
        </p:txBody>
      </p:sp>
      <p:sp>
        <p:nvSpPr>
          <p:cNvPr id="17" name="Text 6"/>
          <p:cNvSpPr/>
          <p:nvPr/>
        </p:nvSpPr>
        <p:spPr>
          <a:xfrm>
            <a:off x="1379488" y="4152900"/>
            <a:ext cx="299466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AI核心技術與深度學習模型</a:t>
            </a:r>
            <a:endParaRPr lang="en-US" sz="1650" dirty="0"/>
          </a:p>
        </p:txBody>
      </p:sp>
      <p:sp>
        <p:nvSpPr>
          <p:cNvPr id="18" name="Text 7"/>
          <p:cNvSpPr/>
          <p:nvPr/>
        </p:nvSpPr>
        <p:spPr>
          <a:xfrm>
            <a:off x="1379488" y="4676775"/>
            <a:ext cx="150876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系統功能展示</a:t>
            </a:r>
            <a:endParaRPr lang="en-US" sz="1650" dirty="0"/>
          </a:p>
        </p:txBody>
      </p:sp>
      <p:sp>
        <p:nvSpPr>
          <p:cNvPr id="19" name="Text 8"/>
          <p:cNvSpPr/>
          <p:nvPr/>
        </p:nvSpPr>
        <p:spPr>
          <a:xfrm>
            <a:off x="1379488" y="5200650"/>
            <a:ext cx="226314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成效預估與社會貢獻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picture-search.skywork.ai/aippt/file_template/1953702771894779904/backgrounds/slide1_0d175f_df75949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863" y="2070646"/>
            <a:ext cx="190500" cy="266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863" y="2756446"/>
            <a:ext cx="190500" cy="266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863" y="3442246"/>
            <a:ext cx="19050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863" y="4128046"/>
            <a:ext cx="14287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32463" y="1508671"/>
            <a:ext cx="5181600" cy="4800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7263" y="2070646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7263" y="2756446"/>
            <a:ext cx="238125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7263" y="3442246"/>
            <a:ext cx="238125" cy="26670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950863" y="685800"/>
            <a:ext cx="10363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D374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提案動機與目的</a:t>
            </a:r>
            <a:endParaRPr lang="en-US" sz="3000" dirty="0"/>
          </a:p>
        </p:txBody>
      </p:sp>
      <p:sp>
        <p:nvSpPr>
          <p:cNvPr id="13" name="Text 1"/>
          <p:cNvSpPr/>
          <p:nvPr/>
        </p:nvSpPr>
        <p:spPr>
          <a:xfrm>
            <a:off x="950863" y="1508671"/>
            <a:ext cx="4876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90A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勞動市場痛點</a:t>
            </a:r>
            <a:endParaRPr lang="en-US" sz="1800" dirty="0"/>
          </a:p>
        </p:txBody>
      </p:sp>
      <p:sp>
        <p:nvSpPr>
          <p:cNvPr id="14" name="Text 2"/>
          <p:cNvSpPr/>
          <p:nvPr/>
        </p:nvSpPr>
        <p:spPr>
          <a:xfrm>
            <a:off x="1255663" y="2042071"/>
            <a:ext cx="4572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資訊不對稱</a:t>
            </a:r>
            <a:r>
              <a:rPr lang="en-US" sz="1350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：求職者與在職者缺乏對市場薪資行情的認知，難以在談判中爭取合理待遇</a:t>
            </a:r>
            <a:endParaRPr lang="en-US" sz="1350" dirty="0"/>
          </a:p>
        </p:txBody>
      </p:sp>
      <p:sp>
        <p:nvSpPr>
          <p:cNvPr id="15" name="Text 3"/>
          <p:cNvSpPr/>
          <p:nvPr/>
        </p:nvSpPr>
        <p:spPr>
          <a:xfrm>
            <a:off x="1255663" y="2727871"/>
            <a:ext cx="4572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資訊獲取成本高昂</a:t>
            </a:r>
            <a:r>
              <a:rPr lang="en-US" sz="1350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：傳統上，個人需耗費大量時間自行爬文、諮詢親友或付費尋求人資顧問協助</a:t>
            </a:r>
            <a:endParaRPr lang="en-US" sz="1350" dirty="0"/>
          </a:p>
        </p:txBody>
      </p:sp>
      <p:sp>
        <p:nvSpPr>
          <p:cNvPr id="16" name="Text 4"/>
          <p:cNvSpPr/>
          <p:nvPr/>
        </p:nvSpPr>
        <p:spPr>
          <a:xfrm>
            <a:off x="1255663" y="3413671"/>
            <a:ext cx="4572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職涯規劃缺乏依據</a:t>
            </a:r>
            <a:r>
              <a:rPr lang="en-US" sz="1350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：工作時數、加班頻率、休假制度等「工作生活平衡」因素難以量化比較</a:t>
            </a:r>
            <a:endParaRPr lang="en-US" sz="1350" dirty="0"/>
          </a:p>
        </p:txBody>
      </p:sp>
      <p:sp>
        <p:nvSpPr>
          <p:cNvPr id="17" name="Text 5"/>
          <p:cNvSpPr/>
          <p:nvPr/>
        </p:nvSpPr>
        <p:spPr>
          <a:xfrm>
            <a:off x="1208038" y="4099471"/>
            <a:ext cx="4619625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企業面臨挑戰</a:t>
            </a:r>
            <a:r>
              <a:rPr lang="en-US" sz="1350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：招募與留才困難、薪酬公平性難以評估、合規性風險</a:t>
            </a:r>
            <a:endParaRPr lang="en-US" sz="1350" dirty="0"/>
          </a:p>
        </p:txBody>
      </p:sp>
      <p:sp>
        <p:nvSpPr>
          <p:cNvPr id="18" name="Text 6"/>
          <p:cNvSpPr/>
          <p:nvPr/>
        </p:nvSpPr>
        <p:spPr>
          <a:xfrm>
            <a:off x="6437263" y="1508671"/>
            <a:ext cx="4876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90A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系統價值與意義</a:t>
            </a:r>
            <a:endParaRPr lang="en-US" sz="1800" dirty="0"/>
          </a:p>
        </p:txBody>
      </p:sp>
      <p:sp>
        <p:nvSpPr>
          <p:cNvPr id="19" name="Text 7"/>
          <p:cNvSpPr/>
          <p:nvPr/>
        </p:nvSpPr>
        <p:spPr>
          <a:xfrm>
            <a:off x="6742063" y="2042071"/>
            <a:ext cx="4572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個人價值</a:t>
            </a:r>
            <a:r>
              <a:rPr lang="en-US" sz="1350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：提供精準的市場薪資分析與個人價值定位，並給予具體的職涯發展建議</a:t>
            </a:r>
            <a:endParaRPr lang="en-US" sz="1350" dirty="0"/>
          </a:p>
        </p:txBody>
      </p:sp>
      <p:sp>
        <p:nvSpPr>
          <p:cNvPr id="20" name="Text 8"/>
          <p:cNvSpPr/>
          <p:nvPr/>
        </p:nvSpPr>
        <p:spPr>
          <a:xfrm>
            <a:off x="6789688" y="2727871"/>
            <a:ext cx="4524375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企業價值</a:t>
            </a:r>
            <a:r>
              <a:rPr lang="en-US" sz="1350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：提供客觀的市場薪資數據與內部薪酬分析，輔助制定更具競爭力與公平性的薪酬策略</a:t>
            </a:r>
            <a:endParaRPr lang="en-US" sz="1350" dirty="0"/>
          </a:p>
        </p:txBody>
      </p:sp>
      <p:sp>
        <p:nvSpPr>
          <p:cNvPr id="21" name="Text 9"/>
          <p:cNvSpPr/>
          <p:nvPr/>
        </p:nvSpPr>
        <p:spPr>
          <a:xfrm>
            <a:off x="6789688" y="3413671"/>
            <a:ext cx="4524375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社會貢獻</a:t>
            </a:r>
            <a:r>
              <a:rPr lang="en-US" sz="1350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：促進勞動市場的資訊透明化與公平性，響應聯合國永續發展目標（SDGs）中「體面工作和經濟增長」的願景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picture-search.skywork.ai/aippt/file_template/1953702771894779904/backgrounds/slide1_0d175f_df75949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863" y="1508671"/>
            <a:ext cx="10289977" cy="123438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863" y="3086100"/>
            <a:ext cx="4939159" cy="329178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6405" y="3324225"/>
            <a:ext cx="180975" cy="2095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8513" y="3800475"/>
            <a:ext cx="209550" cy="2095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8513" y="4295775"/>
            <a:ext cx="209550" cy="2095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8988" y="4791075"/>
            <a:ext cx="266700" cy="2095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1680" y="3086100"/>
            <a:ext cx="4939159" cy="329178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08415" y="3350453"/>
            <a:ext cx="161925" cy="2095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40550" y="3800475"/>
            <a:ext cx="209550" cy="209550"/>
          </a:xfrm>
          <a:prstGeom prst="rect">
            <a:avLst/>
          </a:prstGeom>
        </p:spPr>
      </p:pic>
      <p:sp>
        <p:nvSpPr>
          <p:cNvPr id="16" name="Text 1"/>
          <p:cNvSpPr/>
          <p:nvPr/>
        </p:nvSpPr>
        <p:spPr>
          <a:xfrm>
            <a:off x="950863" y="548580"/>
            <a:ext cx="7751564" cy="5725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4509"/>
              </a:lnSpc>
            </a:pPr>
            <a:r>
              <a:rPr lang="zh-TW" altLang="en-US" sz="4099" b="1" dirty="0">
                <a:solidFill>
                  <a:srgbClr val="4A90A4"/>
                </a:solidFill>
                <a:ea typeface="Arial" pitchFamily="34" charset="-122"/>
                <a:cs typeface="Arial" pitchFamily="34" charset="-120"/>
              </a:rPr>
              <a:t>提案動機與目的 </a:t>
            </a:r>
            <a:endParaRPr lang="en-US" sz="4099" b="1" dirty="0"/>
          </a:p>
        </p:txBody>
      </p:sp>
      <p:sp>
        <p:nvSpPr>
          <p:cNvPr id="17" name="Text 2"/>
          <p:cNvSpPr/>
          <p:nvPr/>
        </p:nvSpPr>
        <p:spPr>
          <a:xfrm>
            <a:off x="1188988" y="1699171"/>
            <a:ext cx="9813727" cy="5866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310"/>
              </a:lnSpc>
              <a:buNone/>
            </a:pPr>
            <a:r>
              <a:rPr lang="en-US" sz="1650" dirty="0">
                <a:solidFill>
                  <a:srgbClr val="4A90A4"/>
                </a:solidFill>
                <a:ea typeface="DM Sans" pitchFamily="34" charset="-122"/>
                <a:cs typeface="DM Sans" pitchFamily="34" charset="-120"/>
              </a:rPr>
              <a:t>「薪酬透視鏡」</a:t>
            </a:r>
            <a:r>
              <a:rPr lang="en-US" sz="1650" dirty="0">
                <a:solidFill>
                  <a:srgbClr val="2D3748"/>
                </a:solidFill>
                <a:ea typeface="DM Sans" pitchFamily="34" charset="-122"/>
                <a:cs typeface="DM Sans" pitchFamily="34" charset="-120"/>
              </a:rPr>
              <a:t> 系統旨在結合人工智慧（AI）與數據科學，打造一個為企業與求職者提供透明、客觀的薪資評估與職涯規劃平台，有效解決勞動市場資訊不對稱的問題。</a:t>
            </a:r>
            <a:endParaRPr lang="en-US" sz="1650" dirty="0"/>
          </a:p>
        </p:txBody>
      </p:sp>
      <p:sp>
        <p:nvSpPr>
          <p:cNvPr id="18" name="Text 3"/>
          <p:cNvSpPr/>
          <p:nvPr/>
        </p:nvSpPr>
        <p:spPr>
          <a:xfrm>
            <a:off x="1188988" y="3276600"/>
            <a:ext cx="4462909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75"/>
              </a:lnSpc>
              <a:buNone/>
            </a:pPr>
            <a:r>
              <a:rPr lang="en-US" sz="1650" dirty="0">
                <a:solidFill>
                  <a:srgbClr val="4A90A4"/>
                </a:solidFill>
                <a:ea typeface="DM Sans" pitchFamily="34" charset="-122"/>
                <a:cs typeface="DM Sans" pitchFamily="34" charset="-120"/>
              </a:rPr>
              <a:t>為求職者提供的價值</a:t>
            </a:r>
            <a:endParaRPr lang="en-US" sz="1650" dirty="0"/>
          </a:p>
        </p:txBody>
      </p:sp>
      <p:sp>
        <p:nvSpPr>
          <p:cNvPr id="19" name="Text 4"/>
          <p:cNvSpPr/>
          <p:nvPr/>
        </p:nvSpPr>
        <p:spPr>
          <a:xfrm>
            <a:off x="1550938" y="3733800"/>
            <a:ext cx="473202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dirty="0">
                <a:solidFill>
                  <a:srgbClr val="2D3748"/>
                </a:solidFill>
                <a:ea typeface="DM Sans" pitchFamily="34" charset="-122"/>
                <a:cs typeface="DM Sans" pitchFamily="34" charset="-120"/>
              </a:rPr>
              <a:t>提供個人市場價值定位，協助評估自身薪資議價優勢</a:t>
            </a:r>
            <a:endParaRPr lang="en-US" sz="1350" dirty="0"/>
          </a:p>
        </p:txBody>
      </p:sp>
      <p:sp>
        <p:nvSpPr>
          <p:cNvPr id="20" name="Text 5"/>
          <p:cNvSpPr/>
          <p:nvPr/>
        </p:nvSpPr>
        <p:spPr>
          <a:xfrm>
            <a:off x="1550938" y="4229100"/>
            <a:ext cx="432054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dirty="0" err="1">
                <a:solidFill>
                  <a:srgbClr val="2D3748"/>
                </a:solidFill>
                <a:ea typeface="DM Sans" pitchFamily="34" charset="-122"/>
                <a:cs typeface="DM Sans" pitchFamily="34" charset="-120"/>
              </a:rPr>
              <a:t>分析市場薪資行情，避免因資訊不足而誤判、錯失機會</a:t>
            </a:r>
            <a:endParaRPr lang="en-US" sz="1350" dirty="0"/>
          </a:p>
        </p:txBody>
      </p:sp>
      <p:sp>
        <p:nvSpPr>
          <p:cNvPr id="21" name="Text 6"/>
          <p:cNvSpPr/>
          <p:nvPr/>
        </p:nvSpPr>
        <p:spPr>
          <a:xfrm>
            <a:off x="1550938" y="4724400"/>
            <a:ext cx="411480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dirty="0">
                <a:solidFill>
                  <a:srgbClr val="2D3748"/>
                </a:solidFill>
                <a:ea typeface="DM Sans" pitchFamily="34" charset="-122"/>
                <a:cs typeface="DM Sans" pitchFamily="34" charset="-120"/>
              </a:rPr>
              <a:t>考量工作生活平衡因素，做出全面性職涯選擇</a:t>
            </a:r>
            <a:endParaRPr lang="en-US" sz="1350" dirty="0"/>
          </a:p>
        </p:txBody>
      </p:sp>
      <p:sp>
        <p:nvSpPr>
          <p:cNvPr id="22" name="Text 7"/>
          <p:cNvSpPr/>
          <p:nvPr/>
        </p:nvSpPr>
        <p:spPr>
          <a:xfrm>
            <a:off x="6539805" y="3276600"/>
            <a:ext cx="4462909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75"/>
              </a:lnSpc>
              <a:buNone/>
            </a:pPr>
            <a:r>
              <a:rPr lang="en-US" sz="1650" dirty="0">
                <a:solidFill>
                  <a:srgbClr val="4A90A4"/>
                </a:solidFill>
                <a:ea typeface="DM Sans" pitchFamily="34" charset="-122"/>
                <a:cs typeface="DM Sans" pitchFamily="34" charset="-120"/>
              </a:rPr>
              <a:t>  </a:t>
            </a:r>
            <a:r>
              <a:rPr lang="en-US" sz="1650" dirty="0" err="1">
                <a:solidFill>
                  <a:srgbClr val="4A90A4"/>
                </a:solidFill>
                <a:ea typeface="DM Sans" pitchFamily="34" charset="-122"/>
                <a:cs typeface="DM Sans" pitchFamily="34" charset="-120"/>
              </a:rPr>
              <a:t>為企業提供的價值</a:t>
            </a:r>
            <a:endParaRPr lang="en-US" sz="1650" dirty="0"/>
          </a:p>
        </p:txBody>
      </p:sp>
      <p:sp>
        <p:nvSpPr>
          <p:cNvPr id="23" name="Text 8"/>
          <p:cNvSpPr/>
          <p:nvPr/>
        </p:nvSpPr>
        <p:spPr>
          <a:xfrm>
            <a:off x="6884343" y="3733800"/>
            <a:ext cx="4118372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dirty="0" err="1">
                <a:solidFill>
                  <a:srgbClr val="2D3748"/>
                </a:solidFill>
                <a:ea typeface="DM Sans" pitchFamily="34" charset="-122"/>
                <a:cs typeface="DM Sans" pitchFamily="34" charset="-120"/>
              </a:rPr>
              <a:t>提供客觀的薪酬決策依據，制定具競爭力且公平的調薪策略</a:t>
            </a:r>
            <a:endParaRPr lang="en-US" sz="135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11C59C7-E685-6AFA-0A6E-4C812F977278}"/>
              </a:ext>
            </a:extLst>
          </p:cNvPr>
          <p:cNvGrpSpPr/>
          <p:nvPr/>
        </p:nvGrpSpPr>
        <p:grpSpPr>
          <a:xfrm>
            <a:off x="6539805" y="4225804"/>
            <a:ext cx="4476750" cy="276225"/>
            <a:chOff x="6539805" y="4400550"/>
            <a:chExt cx="4476750" cy="276225"/>
          </a:xfrm>
        </p:grpSpPr>
        <p:pic>
          <p:nvPicPr>
            <p:cNvPr id="13" name="Image 11" descr="preencoded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539805" y="4467225"/>
              <a:ext cx="266700" cy="209550"/>
            </a:xfrm>
            <a:prstGeom prst="rect">
              <a:avLst/>
            </a:prstGeom>
          </p:spPr>
        </p:pic>
        <p:sp>
          <p:nvSpPr>
            <p:cNvPr id="24" name="Text 9"/>
            <p:cNvSpPr/>
            <p:nvPr/>
          </p:nvSpPr>
          <p:spPr>
            <a:xfrm>
              <a:off x="6901755" y="4400550"/>
              <a:ext cx="4114800" cy="25717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025"/>
                </a:lnSpc>
                <a:buNone/>
              </a:pPr>
              <a:r>
                <a:rPr lang="en-US" sz="1350" dirty="0" err="1">
                  <a:solidFill>
                    <a:srgbClr val="2D3748"/>
                  </a:solidFill>
                  <a:ea typeface="DM Sans" pitchFamily="34" charset="-122"/>
                  <a:cs typeface="DM Sans" pitchFamily="34" charset="-120"/>
                </a:rPr>
                <a:t>降低人才流失風險，增加員工滿意度與留存率</a:t>
              </a:r>
              <a:endParaRPr lang="en-US" sz="135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F52AC44-AF6C-4A4E-85E6-765A00536FF2}"/>
              </a:ext>
            </a:extLst>
          </p:cNvPr>
          <p:cNvGrpSpPr/>
          <p:nvPr/>
        </p:nvGrpSpPr>
        <p:grpSpPr>
          <a:xfrm>
            <a:off x="6539805" y="4721478"/>
            <a:ext cx="4682490" cy="276225"/>
            <a:chOff x="6539805" y="4895850"/>
            <a:chExt cx="4682490" cy="276225"/>
          </a:xfrm>
        </p:grpSpPr>
        <p:pic>
          <p:nvPicPr>
            <p:cNvPr id="14" name="Image 12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539805" y="4962525"/>
              <a:ext cx="238125" cy="209550"/>
            </a:xfrm>
            <a:prstGeom prst="rect">
              <a:avLst/>
            </a:prstGeom>
          </p:spPr>
        </p:pic>
        <p:sp>
          <p:nvSpPr>
            <p:cNvPr id="25" name="Text 10"/>
            <p:cNvSpPr/>
            <p:nvPr/>
          </p:nvSpPr>
          <p:spPr>
            <a:xfrm>
              <a:off x="6901755" y="4895850"/>
              <a:ext cx="4320540" cy="25717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025"/>
                </a:lnSpc>
                <a:buNone/>
              </a:pPr>
              <a:r>
                <a:rPr lang="en-US" sz="1350" dirty="0" err="1">
                  <a:solidFill>
                    <a:srgbClr val="2D3748"/>
                  </a:solidFill>
                  <a:ea typeface="DM Sans" pitchFamily="34" charset="-122"/>
                  <a:cs typeface="DM Sans" pitchFamily="34" charset="-120"/>
                </a:rPr>
                <a:t>客觀分析市場行情、提高招募效率，加快薪資議價程序</a:t>
              </a:r>
              <a:endParaRPr lang="en-US" sz="135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B779B-3285-4B94-23FF-160D9F931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20E046E-2EBA-5D4D-1153-2708F66EC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picture-search.skywork.ai/aippt/file_template/1953702771894779904/backgrounds/slide1_0d175f_df759498.png">
            <a:extLst>
              <a:ext uri="{FF2B5EF4-FFF2-40B4-BE49-F238E27FC236}">
                <a16:creationId xmlns:a16="http://schemas.microsoft.com/office/drawing/2014/main" id="{1B8F8EA9-1F1F-42D4-B53E-CB90721DD3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723"/>
            <a:ext cx="12192000" cy="6858000"/>
          </a:xfrm>
          <a:prstGeom prst="rect">
            <a:avLst/>
          </a:prstGeom>
        </p:spPr>
      </p:pic>
      <p:sp>
        <p:nvSpPr>
          <p:cNvPr id="16" name="Text 1">
            <a:extLst>
              <a:ext uri="{FF2B5EF4-FFF2-40B4-BE49-F238E27FC236}">
                <a16:creationId xmlns:a16="http://schemas.microsoft.com/office/drawing/2014/main" id="{E0D066ED-46A9-FFF1-F3F5-2A430429152B}"/>
              </a:ext>
            </a:extLst>
          </p:cNvPr>
          <p:cNvSpPr/>
          <p:nvPr/>
        </p:nvSpPr>
        <p:spPr>
          <a:xfrm>
            <a:off x="950863" y="548580"/>
            <a:ext cx="7751564" cy="5725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4509"/>
              </a:lnSpc>
            </a:pPr>
            <a:r>
              <a:rPr lang="zh-TW" altLang="en-US" sz="4099" b="1" dirty="0">
                <a:solidFill>
                  <a:srgbClr val="4A90A4"/>
                </a:solidFill>
                <a:ea typeface="Arial" pitchFamily="34" charset="-122"/>
                <a:cs typeface="Arial" pitchFamily="34" charset="-120"/>
              </a:rPr>
              <a:t>提案動機與目的 </a:t>
            </a:r>
            <a:endParaRPr lang="en-US" sz="4099" b="1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2BE15AE-E559-BB3F-01D1-A0B807A22075}"/>
              </a:ext>
            </a:extLst>
          </p:cNvPr>
          <p:cNvGrpSpPr/>
          <p:nvPr/>
        </p:nvGrpSpPr>
        <p:grpSpPr>
          <a:xfrm>
            <a:off x="950861" y="4492653"/>
            <a:ext cx="10289977" cy="1234380"/>
            <a:chOff x="950863" y="1508671"/>
            <a:chExt cx="10289977" cy="1234380"/>
          </a:xfrm>
        </p:grpSpPr>
        <p:pic>
          <p:nvPicPr>
            <p:cNvPr id="4" name="Image 2" descr="preencoded.png">
              <a:extLst>
                <a:ext uri="{FF2B5EF4-FFF2-40B4-BE49-F238E27FC236}">
                  <a16:creationId xmlns:a16="http://schemas.microsoft.com/office/drawing/2014/main" id="{ECB5D304-7E28-FDAE-E0DF-138B1A6961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0863" y="1508671"/>
              <a:ext cx="10289977" cy="1234380"/>
            </a:xfrm>
            <a:prstGeom prst="rect">
              <a:avLst/>
            </a:prstGeom>
          </p:spPr>
        </p:pic>
        <p:sp>
          <p:nvSpPr>
            <p:cNvPr id="17" name="Text 2">
              <a:extLst>
                <a:ext uri="{FF2B5EF4-FFF2-40B4-BE49-F238E27FC236}">
                  <a16:creationId xmlns:a16="http://schemas.microsoft.com/office/drawing/2014/main" id="{9383F44B-F81C-8C00-33AD-EDDC5E2BFB64}"/>
                </a:ext>
              </a:extLst>
            </p:cNvPr>
            <p:cNvSpPr/>
            <p:nvPr/>
          </p:nvSpPr>
          <p:spPr>
            <a:xfrm>
              <a:off x="1188988" y="1699171"/>
              <a:ext cx="9813727" cy="58668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310"/>
                </a:lnSpc>
                <a:buNone/>
              </a:pPr>
              <a:r>
                <a:rPr lang="zh-TW" altLang="en-US" dirty="0">
                  <a:ea typeface="DM Sans" pitchFamily="34" charset="-122"/>
                  <a:cs typeface="DM Sans" pitchFamily="34" charset="-120"/>
                </a:rPr>
                <a:t>    </a:t>
              </a:r>
              <a:r>
                <a:rPr lang="en-US" dirty="0" err="1">
                  <a:ea typeface="DM Sans" pitchFamily="34" charset="-122"/>
                  <a:cs typeface="DM Sans" pitchFamily="34" charset="-120"/>
                </a:rPr>
                <a:t>因此，我們希望開發一套</a:t>
              </a:r>
              <a:r>
                <a:rPr lang="en-US" dirty="0" err="1">
                  <a:solidFill>
                    <a:srgbClr val="4A90A4"/>
                  </a:solidFill>
                  <a:ea typeface="DM Sans" pitchFamily="34" charset="-122"/>
                  <a:cs typeface="DM Sans" pitchFamily="34" charset="-120"/>
                </a:rPr>
                <a:t>「薪酬透視鏡</a:t>
              </a:r>
              <a:r>
                <a:rPr lang="en-US" dirty="0">
                  <a:solidFill>
                    <a:srgbClr val="4A90A4"/>
                  </a:solidFill>
                  <a:ea typeface="DM Sans" pitchFamily="34" charset="-122"/>
                  <a:cs typeface="DM Sans" pitchFamily="34" charset="-120"/>
                </a:rPr>
                <a:t>」</a:t>
              </a:r>
              <a:r>
                <a:rPr lang="en-US" dirty="0">
                  <a:solidFill>
                    <a:srgbClr val="2D3748"/>
                  </a:solidFill>
                  <a:ea typeface="DM Sans" pitchFamily="34" charset="-122"/>
                  <a:cs typeface="DM Sans" pitchFamily="34" charset="-120"/>
                </a:rPr>
                <a:t> 系統，旨在結合人工智慧（AI）與數據科學，打造一個為企業與求職者提供透明、客觀的薪資評估與職涯規劃平台，有效解決勞動市場資訊不對稱的問題。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9EAD52B-C7F8-53CF-928D-29E8A03182EF}"/>
              </a:ext>
            </a:extLst>
          </p:cNvPr>
          <p:cNvGrpSpPr/>
          <p:nvPr/>
        </p:nvGrpSpPr>
        <p:grpSpPr>
          <a:xfrm>
            <a:off x="950861" y="1669702"/>
            <a:ext cx="10289977" cy="2072729"/>
            <a:chOff x="950863" y="3086100"/>
            <a:chExt cx="10289977" cy="2072729"/>
          </a:xfrm>
        </p:grpSpPr>
        <p:pic>
          <p:nvPicPr>
            <p:cNvPr id="5" name="Image 3" descr="preencoded.png">
              <a:extLst>
                <a:ext uri="{FF2B5EF4-FFF2-40B4-BE49-F238E27FC236}">
                  <a16:creationId xmlns:a16="http://schemas.microsoft.com/office/drawing/2014/main" id="{CFC088DC-0E3E-FE74-4E07-0E892BF5514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50863" y="3086100"/>
              <a:ext cx="10289977" cy="2072729"/>
            </a:xfrm>
            <a:prstGeom prst="rect">
              <a:avLst/>
            </a:prstGeom>
          </p:spPr>
        </p:pic>
        <p:sp>
          <p:nvSpPr>
            <p:cNvPr id="15" name="Text 2">
              <a:extLst>
                <a:ext uri="{FF2B5EF4-FFF2-40B4-BE49-F238E27FC236}">
                  <a16:creationId xmlns:a16="http://schemas.microsoft.com/office/drawing/2014/main" id="{8CF74266-D3F1-4E82-6074-2A5229D7D56E}"/>
                </a:ext>
              </a:extLst>
            </p:cNvPr>
            <p:cNvSpPr/>
            <p:nvPr/>
          </p:nvSpPr>
          <p:spPr>
            <a:xfrm>
              <a:off x="1188988" y="3428999"/>
              <a:ext cx="9813727" cy="1504321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310"/>
                </a:lnSpc>
                <a:buNone/>
              </a:pPr>
              <a:r>
                <a:rPr lang="zh-TW" altLang="en-US" dirty="0"/>
                <a:t>    </a:t>
              </a:r>
              <a:r>
                <a:rPr lang="en-US" dirty="0"/>
                <a:t>在關注勞工權益的相關問題上，我們發現求職者普遍面臨薪資行情不透明的困境，難以精確評估自身市場價值，無法判斷當前待遇是被高估或低估，進而措施職涯成長的潛在空間。同時，企業也迫切需要客觀的市場薪酬數據，以利擬定具競爭力的薪資策略、檢視內部結構、並優化調薪機制。我們相信透過提升勞資雙方的資訊透明度，將能有效改善勞動薪資權益，實現更公平、更有效率的人才市場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8763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picture-search.skywork.ai/aippt/file_template/1953702771894779904/backgrounds/slide1_0d175f_df75949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863" y="1714500"/>
            <a:ext cx="3277493" cy="22574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1363" y="1971675"/>
            <a:ext cx="3048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6956" y="1714500"/>
            <a:ext cx="3277642" cy="22574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7456" y="1971675"/>
            <a:ext cx="3810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3198" y="1714500"/>
            <a:ext cx="3277493" cy="22574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53698" y="1971675"/>
            <a:ext cx="3429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863" y="4200525"/>
            <a:ext cx="3277493" cy="22574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1363" y="4457700"/>
            <a:ext cx="3048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6956" y="4200525"/>
            <a:ext cx="3277642" cy="22574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47456" y="4457700"/>
            <a:ext cx="3429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3198" y="4200525"/>
            <a:ext cx="3277493" cy="225742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53698" y="4457700"/>
            <a:ext cx="304800" cy="304800"/>
          </a:xfrm>
          <a:prstGeom prst="rect">
            <a:avLst/>
          </a:prstGeom>
        </p:spPr>
      </p:pic>
      <p:sp>
        <p:nvSpPr>
          <p:cNvPr id="17" name="Text 1"/>
          <p:cNvSpPr/>
          <p:nvPr/>
        </p:nvSpPr>
        <p:spPr>
          <a:xfrm>
            <a:off x="950863" y="548580"/>
            <a:ext cx="7751564" cy="5725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509"/>
              </a:lnSpc>
              <a:buNone/>
            </a:pPr>
            <a:r>
              <a:rPr lang="en-US" sz="4099" b="1" dirty="0" err="1">
                <a:solidFill>
                  <a:srgbClr val="4A90A4"/>
                </a:solidFill>
                <a:ea typeface="Arial" pitchFamily="34" charset="-122"/>
                <a:cs typeface="Arial" pitchFamily="34" charset="-120"/>
              </a:rPr>
              <a:t>系統功能要點</a:t>
            </a:r>
            <a:endParaRPr lang="en-US" sz="4099" b="1" dirty="0"/>
          </a:p>
        </p:txBody>
      </p:sp>
      <p:sp>
        <p:nvSpPr>
          <p:cNvPr id="18" name="Text 2"/>
          <p:cNvSpPr/>
          <p:nvPr/>
        </p:nvSpPr>
        <p:spPr>
          <a:xfrm>
            <a:off x="1141363" y="2505075"/>
            <a:ext cx="2896493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薪資行情分析</a:t>
            </a:r>
            <a:endParaRPr lang="en-US" sz="1500" dirty="0"/>
          </a:p>
        </p:txBody>
      </p:sp>
      <p:sp>
        <p:nvSpPr>
          <p:cNvPr id="19" name="Text 3"/>
          <p:cNvSpPr/>
          <p:nvPr/>
        </p:nvSpPr>
        <p:spPr>
          <a:xfrm>
            <a:off x="1141363" y="2867025"/>
            <a:ext cx="2896493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利用AI分析市場薪資行情，求職者輸入個人學經歷與專長能力，即可透過PVM模型提供精準的個人市場價值定位，協助求職者在議價時掌握客觀依據。</a:t>
            </a:r>
            <a:endParaRPr lang="en-US" sz="1200" dirty="0"/>
          </a:p>
        </p:txBody>
      </p:sp>
      <p:sp>
        <p:nvSpPr>
          <p:cNvPr id="20" name="Text 4"/>
          <p:cNvSpPr/>
          <p:nvPr/>
        </p:nvSpPr>
        <p:spPr>
          <a:xfrm>
            <a:off x="4647456" y="2505075"/>
            <a:ext cx="2896642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工作條件評估</a:t>
            </a:r>
            <a:endParaRPr lang="en-US" sz="1500" dirty="0"/>
          </a:p>
        </p:txBody>
      </p:sp>
      <p:sp>
        <p:nvSpPr>
          <p:cNvPr id="21" name="Text 5"/>
          <p:cNvSpPr/>
          <p:nvPr/>
        </p:nvSpPr>
        <p:spPr>
          <a:xfrm>
            <a:off x="4647456" y="2808410"/>
            <a:ext cx="2896642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zh-TW" altLang="en-US" sz="12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透過</a:t>
            </a:r>
            <a:r>
              <a:rPr lang="en-US" sz="12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WLBX</a:t>
            </a:r>
            <a:r>
              <a:rPr lang="zh-TW" altLang="en-US" sz="12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指數，對用戶的市場價值與潛在職位的工作生活平衡度</a:t>
            </a:r>
            <a:r>
              <a:rPr lang="en-US" altLang="zh-TW" sz="12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</a:t>
            </a:r>
            <a:r>
              <a:rPr lang="en-US" sz="1200" dirty="0" err="1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工時、休假、加班頻率等</a:t>
            </a:r>
            <a:r>
              <a:rPr lang="en-US" altLang="zh-TW" sz="12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)</a:t>
            </a:r>
            <a:r>
              <a:rPr lang="zh-TW" altLang="en-US" sz="12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進行量化對比，迅速判斷職缺的價值是否在合理行情內，且系統將主動提供勞基法規符合度分析，作為風險警示。</a:t>
            </a:r>
            <a:endParaRPr lang="en-US" sz="1200" dirty="0"/>
          </a:p>
        </p:txBody>
      </p:sp>
      <p:sp>
        <p:nvSpPr>
          <p:cNvPr id="22" name="Text 6"/>
          <p:cNvSpPr/>
          <p:nvPr/>
        </p:nvSpPr>
        <p:spPr>
          <a:xfrm>
            <a:off x="8153698" y="2505075"/>
            <a:ext cx="2896493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職涯發展建議</a:t>
            </a:r>
            <a:endParaRPr lang="en-US" sz="1500" dirty="0"/>
          </a:p>
        </p:txBody>
      </p:sp>
      <p:sp>
        <p:nvSpPr>
          <p:cNvPr id="23" name="Text 7"/>
          <p:cNvSpPr/>
          <p:nvPr/>
        </p:nvSpPr>
        <p:spPr>
          <a:xfrm>
            <a:off x="8153698" y="2867025"/>
            <a:ext cx="2896493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基於個人特質與市場趨勢，提供技能提升與職涯路徑規劃建議，協助個人實現長期職涯價值成長，成為個人專屬的AI職涯顧問。</a:t>
            </a:r>
            <a:endParaRPr lang="en-US" sz="1200" dirty="0"/>
          </a:p>
        </p:txBody>
      </p:sp>
      <p:sp>
        <p:nvSpPr>
          <p:cNvPr id="24" name="Text 8"/>
          <p:cNvSpPr/>
          <p:nvPr/>
        </p:nvSpPr>
        <p:spPr>
          <a:xfrm>
            <a:off x="1141363" y="4991100"/>
            <a:ext cx="3475792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企業人才風險預警</a:t>
            </a:r>
            <a:endParaRPr lang="en-US" sz="1500" dirty="0"/>
          </a:p>
        </p:txBody>
      </p:sp>
      <p:sp>
        <p:nvSpPr>
          <p:cNvPr id="25" name="Text 9"/>
          <p:cNvSpPr/>
          <p:nvPr/>
        </p:nvSpPr>
        <p:spPr>
          <a:xfrm>
            <a:off x="1141363" y="5353050"/>
            <a:ext cx="2896493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分析員工離職風險，提供數據支持的薪酬優化建議，降低人才流失成本，提升企業人才管理效率與競爭力。</a:t>
            </a:r>
            <a:endParaRPr lang="en-US" sz="1200" dirty="0"/>
          </a:p>
        </p:txBody>
      </p:sp>
      <p:sp>
        <p:nvSpPr>
          <p:cNvPr id="26" name="Text 10"/>
          <p:cNvSpPr/>
          <p:nvPr/>
        </p:nvSpPr>
        <p:spPr>
          <a:xfrm>
            <a:off x="4647456" y="4991100"/>
            <a:ext cx="2896642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綜合職位評分</a:t>
            </a:r>
            <a:endParaRPr lang="en-US" sz="1500" dirty="0"/>
          </a:p>
        </p:txBody>
      </p:sp>
      <p:sp>
        <p:nvSpPr>
          <p:cNvPr id="27" name="Text 11"/>
          <p:cNvSpPr/>
          <p:nvPr/>
        </p:nvSpPr>
        <p:spPr>
          <a:xfrm>
            <a:off x="4647456" y="5353050"/>
            <a:ext cx="2896642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結合薪資與工作條件，使用JCS評分模型計算綜合職位分數，協助求職者在薪資待遇、工作強度、個人發展等多個目標之間找到最佳選擇。</a:t>
            </a:r>
            <a:endParaRPr lang="en-US" sz="1200" dirty="0"/>
          </a:p>
        </p:txBody>
      </p:sp>
      <p:sp>
        <p:nvSpPr>
          <p:cNvPr id="28" name="Text 12"/>
          <p:cNvSpPr/>
          <p:nvPr/>
        </p:nvSpPr>
        <p:spPr>
          <a:xfrm>
            <a:off x="8153698" y="4991100"/>
            <a:ext cx="3475792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數據驅動薪酬策略</a:t>
            </a:r>
            <a:endParaRPr lang="en-US" sz="1500" dirty="0"/>
          </a:p>
        </p:txBody>
      </p:sp>
      <p:sp>
        <p:nvSpPr>
          <p:cNvPr id="29" name="Text 13"/>
          <p:cNvSpPr/>
          <p:nvPr/>
        </p:nvSpPr>
        <p:spPr>
          <a:xfrm>
            <a:off x="8153698" y="5353050"/>
            <a:ext cx="2896493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為企業提供即時、客觀的市場薪資數據與分析，協助企業制定更具競爭力且符合市場行情的薪酬策略，優化人才招募效率。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05302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picture-search.skywork.ai/aippt/file_template/1953702771894779904/backgrounds/slide1_0d175f_df75949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863" y="1977330"/>
            <a:ext cx="200025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863" y="2453580"/>
            <a:ext cx="5120580" cy="34480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988" y="2691705"/>
            <a:ext cx="4644330" cy="6286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8988" y="2748855"/>
            <a:ext cx="266700" cy="2095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988" y="3472755"/>
            <a:ext cx="4644330" cy="6286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8988" y="3529905"/>
            <a:ext cx="209550" cy="2095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988" y="4253805"/>
            <a:ext cx="4644330" cy="6286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14735" y="4310955"/>
            <a:ext cx="209550" cy="2095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06252" y="5092005"/>
            <a:ext cx="209550" cy="2095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0557" y="1977330"/>
            <a:ext cx="171450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0557" y="2453580"/>
            <a:ext cx="5120580" cy="34480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8682" y="2691705"/>
            <a:ext cx="4644330" cy="6286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70141" y="2748855"/>
            <a:ext cx="238125" cy="2095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8682" y="3472755"/>
            <a:ext cx="4644330" cy="6286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58682" y="3529905"/>
            <a:ext cx="266700" cy="2095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8682" y="4253805"/>
            <a:ext cx="4644330" cy="6286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76988" y="4310955"/>
            <a:ext cx="161925" cy="2095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80113" y="5092005"/>
            <a:ext cx="209550" cy="209550"/>
          </a:xfrm>
          <a:prstGeom prst="rect">
            <a:avLst/>
          </a:prstGeom>
        </p:spPr>
      </p:pic>
      <p:sp>
        <p:nvSpPr>
          <p:cNvPr id="23" name="Text 1"/>
          <p:cNvSpPr/>
          <p:nvPr/>
        </p:nvSpPr>
        <p:spPr>
          <a:xfrm>
            <a:off x="950863" y="548580"/>
            <a:ext cx="7751564" cy="5725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509"/>
              </a:lnSpc>
              <a:buNone/>
            </a:pPr>
            <a:r>
              <a:rPr lang="en-US" sz="4099" dirty="0" err="1">
                <a:solidFill>
                  <a:srgbClr val="4A9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痛點分析</a:t>
            </a:r>
            <a:endParaRPr lang="en-US" sz="4099" dirty="0"/>
          </a:p>
        </p:txBody>
      </p:sp>
      <p:sp>
        <p:nvSpPr>
          <p:cNvPr id="24" name="Text 2"/>
          <p:cNvSpPr/>
          <p:nvPr/>
        </p:nvSpPr>
        <p:spPr>
          <a:xfrm>
            <a:off x="950863" y="1234380"/>
            <a:ext cx="9301877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500" dirty="0" err="1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解決當前就業市場的薪資與工作條件資訊不對稱現象</a:t>
            </a:r>
            <a:endParaRPr lang="en-US" sz="1500" dirty="0"/>
          </a:p>
        </p:txBody>
      </p:sp>
      <p:sp>
        <p:nvSpPr>
          <p:cNvPr id="25" name="Text 3"/>
          <p:cNvSpPr/>
          <p:nvPr/>
        </p:nvSpPr>
        <p:spPr>
          <a:xfrm>
            <a:off x="1265188" y="1920180"/>
            <a:ext cx="51205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4A90A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個人端挑戰</a:t>
            </a:r>
            <a:endParaRPr lang="en-US" sz="1800" dirty="0"/>
          </a:p>
        </p:txBody>
      </p:sp>
      <p:sp>
        <p:nvSpPr>
          <p:cNvPr id="26" name="Text 4"/>
          <p:cNvSpPr/>
          <p:nvPr/>
        </p:nvSpPr>
        <p:spPr>
          <a:xfrm>
            <a:off x="1608088" y="2691705"/>
            <a:ext cx="4225230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 err="1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缺乏客觀薪資行情參考</a:t>
            </a:r>
            <a:r>
              <a:rPr lang="en-US" sz="1350" dirty="0" err="1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：難以準確評估自身市場價值與籌碼，可能導致薪資議價談判時處於劣勢</a:t>
            </a:r>
            <a:endParaRPr lang="en-US" sz="1350" dirty="0"/>
          </a:p>
        </p:txBody>
      </p:sp>
      <p:sp>
        <p:nvSpPr>
          <p:cNvPr id="27" name="Text 5"/>
          <p:cNvSpPr/>
          <p:nvPr/>
        </p:nvSpPr>
        <p:spPr>
          <a:xfrm>
            <a:off x="1550938" y="3472755"/>
            <a:ext cx="4282380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 err="1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工作條件評估</a:t>
            </a:r>
            <a:r>
              <a:rPr lang="en-US" sz="1350" dirty="0" err="1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：除薪酬外，對於工時、加班頻率、休假制度等工作生活平衡資訊一並納入評核考量</a:t>
            </a:r>
            <a:endParaRPr lang="en-US" sz="1350" dirty="0"/>
          </a:p>
        </p:txBody>
      </p:sp>
      <p:sp>
        <p:nvSpPr>
          <p:cNvPr id="28" name="Text 6"/>
          <p:cNvSpPr/>
          <p:nvPr/>
        </p:nvSpPr>
        <p:spPr>
          <a:xfrm>
            <a:off x="1602581" y="4253805"/>
            <a:ext cx="4230737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 err="1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職涯發展方向迷茫</a:t>
            </a:r>
            <a:r>
              <a:rPr lang="en-US" sz="1350" dirty="0" err="1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：不清楚如何提升自身技能以符合市場需求與職涯發展規劃</a:t>
            </a:r>
            <a:endParaRPr lang="en-US" sz="1350" dirty="0"/>
          </a:p>
        </p:txBody>
      </p:sp>
      <p:sp>
        <p:nvSpPr>
          <p:cNvPr id="29" name="Text 7"/>
          <p:cNvSpPr/>
          <p:nvPr/>
        </p:nvSpPr>
        <p:spPr>
          <a:xfrm>
            <a:off x="1585466" y="5034855"/>
            <a:ext cx="4247852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資訊搜尋成本高昂</a:t>
            </a:r>
            <a:r>
              <a:rPr lang="en-US" sz="1350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：需花費大量時間透過非正式管道探詢薪資行情</a:t>
            </a:r>
            <a:endParaRPr lang="en-US" sz="1350" dirty="0"/>
          </a:p>
        </p:txBody>
      </p:sp>
      <p:sp>
        <p:nvSpPr>
          <p:cNvPr id="30" name="Text 8"/>
          <p:cNvSpPr/>
          <p:nvPr/>
        </p:nvSpPr>
        <p:spPr>
          <a:xfrm>
            <a:off x="6406307" y="1920180"/>
            <a:ext cx="51205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4A90A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企業端困境</a:t>
            </a:r>
            <a:endParaRPr lang="en-US" sz="1800" dirty="0"/>
          </a:p>
        </p:txBody>
      </p:sp>
      <p:sp>
        <p:nvSpPr>
          <p:cNvPr id="31" name="Text 9"/>
          <p:cNvSpPr/>
          <p:nvPr/>
        </p:nvSpPr>
        <p:spPr>
          <a:xfrm>
            <a:off x="6772275" y="2691705"/>
            <a:ext cx="4230737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薪資設定缺乏市場依據</a:t>
            </a:r>
            <a:r>
              <a:rPr lang="en-US" sz="1350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：難以制定具競爭力且公平的薪酬策略</a:t>
            </a:r>
            <a:endParaRPr lang="en-US" sz="1350" dirty="0"/>
          </a:p>
        </p:txBody>
      </p:sp>
      <p:sp>
        <p:nvSpPr>
          <p:cNvPr id="32" name="Text 10"/>
          <p:cNvSpPr/>
          <p:nvPr/>
        </p:nvSpPr>
        <p:spPr>
          <a:xfrm>
            <a:off x="6777782" y="3472755"/>
            <a:ext cx="4225230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人才流失風險難以預警</a:t>
            </a:r>
            <a:r>
              <a:rPr lang="en-US" sz="1350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：缺乏數據支持，難以預測員工因薪資考量而離職的風險</a:t>
            </a:r>
            <a:endParaRPr lang="en-US" sz="1350" dirty="0"/>
          </a:p>
        </p:txBody>
      </p:sp>
      <p:sp>
        <p:nvSpPr>
          <p:cNvPr id="33" name="Text 11"/>
          <p:cNvSpPr/>
          <p:nvPr/>
        </p:nvSpPr>
        <p:spPr>
          <a:xfrm>
            <a:off x="6709767" y="4253805"/>
            <a:ext cx="4293245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招募效率與成本問題</a:t>
            </a:r>
            <a:r>
              <a:rPr lang="en-US" sz="1350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：在薪資談判過程中，若無客觀數據支持，可能延長招募週期</a:t>
            </a:r>
            <a:endParaRPr lang="en-US" sz="1350" dirty="0"/>
          </a:p>
        </p:txBody>
      </p:sp>
      <p:sp>
        <p:nvSpPr>
          <p:cNvPr id="34" name="Text 12"/>
          <p:cNvSpPr/>
          <p:nvPr/>
        </p:nvSpPr>
        <p:spPr>
          <a:xfrm>
            <a:off x="6763494" y="5034855"/>
            <a:ext cx="4239518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潛在勞資爭議風險</a:t>
            </a:r>
            <a:r>
              <a:rPr lang="en-US" sz="1350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：薪資與工作条件的不透明可能引發員工不滿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picture-search.skywork.ai/aippt/file_template/1953702771894779904/backgrounds/slide1_0d175f_df75949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863" y="1714500"/>
            <a:ext cx="3261271" cy="4800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0734" y="1714500"/>
            <a:ext cx="3261271" cy="4800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0604" y="1714500"/>
            <a:ext cx="3261420" cy="48006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950863" y="685800"/>
            <a:ext cx="8534400" cy="4399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465"/>
              </a:lnSpc>
              <a:buNone/>
            </a:pPr>
            <a:r>
              <a:rPr lang="en-US" sz="4100" b="1" dirty="0">
                <a:solidFill>
                  <a:srgbClr val="4A90A4"/>
                </a:solidFill>
                <a:ea typeface="Noto Sans TC" pitchFamily="34" charset="-122"/>
                <a:cs typeface="Noto Sans TC" pitchFamily="34" charset="-120"/>
              </a:rPr>
              <a:t>痛點分析</a:t>
            </a:r>
            <a:endParaRPr lang="en-US" sz="4100" dirty="0"/>
          </a:p>
        </p:txBody>
      </p:sp>
      <p:sp>
        <p:nvSpPr>
          <p:cNvPr id="26" name="Text 1"/>
          <p:cNvSpPr/>
          <p:nvPr/>
        </p:nvSpPr>
        <p:spPr>
          <a:xfrm>
            <a:off x="950863" y="1234380"/>
            <a:ext cx="1024128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dirty="0">
                <a:solidFill>
                  <a:srgbClr val="4A5568"/>
                </a:solidFill>
                <a:ea typeface="Noto Sans TC" pitchFamily="34" charset="-122"/>
                <a:cs typeface="Noto Sans TC" pitchFamily="34" charset="-120"/>
              </a:rPr>
              <a:t>深入分析求職者、在職者與企業在薪資評估、職涯規劃方面面臨的挑戰</a:t>
            </a:r>
            <a:endParaRPr lang="en-US" sz="1350" dirty="0"/>
          </a:p>
        </p:txBody>
      </p:sp>
      <p:sp>
        <p:nvSpPr>
          <p:cNvPr id="27" name="Text 2"/>
          <p:cNvSpPr/>
          <p:nvPr/>
        </p:nvSpPr>
        <p:spPr>
          <a:xfrm>
            <a:off x="853336" y="2524125"/>
            <a:ext cx="34563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D3748"/>
                </a:solidFill>
                <a:ea typeface="DM Sans" pitchFamily="34" charset="-122"/>
                <a:cs typeface="DM Sans" pitchFamily="34" charset="-120"/>
              </a:rPr>
              <a:t>求職者與在職者痛點</a:t>
            </a:r>
            <a:endParaRPr lang="en-US" sz="135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98039CA-AB5F-B012-333A-4FEFAF743CCB}"/>
              </a:ext>
            </a:extLst>
          </p:cNvPr>
          <p:cNvGrpSpPr/>
          <p:nvPr/>
        </p:nvGrpSpPr>
        <p:grpSpPr>
          <a:xfrm>
            <a:off x="1141363" y="2943225"/>
            <a:ext cx="2880271" cy="400050"/>
            <a:chOff x="1141363" y="2943225"/>
            <a:chExt cx="2880271" cy="400050"/>
          </a:xfrm>
        </p:grpSpPr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41363" y="2981325"/>
              <a:ext cx="142875" cy="142875"/>
            </a:xfrm>
            <a:prstGeom prst="rect">
              <a:avLst/>
            </a:prstGeom>
          </p:spPr>
        </p:pic>
        <p:sp>
          <p:nvSpPr>
            <p:cNvPr id="28" name="Text 3"/>
            <p:cNvSpPr/>
            <p:nvPr/>
          </p:nvSpPr>
          <p:spPr>
            <a:xfrm>
              <a:off x="1360438" y="2943225"/>
              <a:ext cx="2661196" cy="4000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l">
                <a:lnSpc>
                  <a:spcPts val="1575"/>
                </a:lnSpc>
                <a:buNone/>
              </a:pPr>
              <a:r>
                <a:rPr lang="en-US" sz="1400" b="1" dirty="0">
                  <a:solidFill>
                    <a:srgbClr val="4A5568"/>
                  </a:solidFill>
                  <a:ea typeface="DM Sans" pitchFamily="34" charset="-122"/>
                  <a:cs typeface="DM Sans" pitchFamily="34" charset="-120"/>
                </a:rPr>
                <a:t>資訊不對稱</a:t>
              </a:r>
              <a:r>
                <a:rPr lang="en-US" sz="1400" dirty="0">
                  <a:solidFill>
                    <a:srgbClr val="4A5568"/>
                  </a:solidFill>
                  <a:ea typeface="DM Sans" pitchFamily="34" charset="-122"/>
                  <a:cs typeface="DM Sans" pitchFamily="34" charset="-120"/>
                </a:rPr>
                <a:t>：缺乏對自身市場價值的認知，難以在薪資談判中爭取合理待遇</a:t>
              </a:r>
              <a:endParaRPr lang="en-US" sz="1400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D139476-B0DA-4CAE-D879-7B75896C9DD7}"/>
              </a:ext>
            </a:extLst>
          </p:cNvPr>
          <p:cNvGrpSpPr/>
          <p:nvPr/>
        </p:nvGrpSpPr>
        <p:grpSpPr>
          <a:xfrm>
            <a:off x="1141288" y="3646714"/>
            <a:ext cx="2880271" cy="400050"/>
            <a:chOff x="1141363" y="3495675"/>
            <a:chExt cx="2880271" cy="400050"/>
          </a:xfrm>
        </p:grpSpPr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41363" y="3533775"/>
              <a:ext cx="142875" cy="142875"/>
            </a:xfrm>
            <a:prstGeom prst="rect">
              <a:avLst/>
            </a:prstGeom>
          </p:spPr>
        </p:pic>
        <p:sp>
          <p:nvSpPr>
            <p:cNvPr id="29" name="Text 4"/>
            <p:cNvSpPr/>
            <p:nvPr/>
          </p:nvSpPr>
          <p:spPr>
            <a:xfrm>
              <a:off x="1360438" y="3495675"/>
              <a:ext cx="2661196" cy="4000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l">
                <a:lnSpc>
                  <a:spcPts val="1575"/>
                </a:lnSpc>
                <a:buNone/>
              </a:pPr>
              <a:r>
                <a:rPr lang="en-US" sz="1400" b="1" dirty="0">
                  <a:solidFill>
                    <a:srgbClr val="4A5568"/>
                  </a:solidFill>
                  <a:ea typeface="DM Sans" pitchFamily="34" charset="-122"/>
                  <a:cs typeface="DM Sans" pitchFamily="34" charset="-120"/>
                </a:rPr>
                <a:t>資訊獲取成本高昂</a:t>
              </a:r>
              <a:r>
                <a:rPr lang="en-US" sz="1400" dirty="0">
                  <a:solidFill>
                    <a:srgbClr val="4A5568"/>
                  </a:solidFill>
                  <a:ea typeface="DM Sans" pitchFamily="34" charset="-122"/>
                  <a:cs typeface="DM Sans" pitchFamily="34" charset="-120"/>
                </a:rPr>
                <a:t>：耗費大量時間自行爬文、諮詢他人，過程繁瑣且不一定精準</a:t>
              </a:r>
              <a:endParaRPr lang="en-US" sz="14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23A5B5F-6239-4605-AFC6-07DCB2089E1D}"/>
              </a:ext>
            </a:extLst>
          </p:cNvPr>
          <p:cNvGrpSpPr/>
          <p:nvPr/>
        </p:nvGrpSpPr>
        <p:grpSpPr>
          <a:xfrm>
            <a:off x="1141288" y="4371975"/>
            <a:ext cx="2880271" cy="600075"/>
            <a:chOff x="1141363" y="4048125"/>
            <a:chExt cx="2880271" cy="600075"/>
          </a:xfrm>
        </p:grpSpPr>
        <p:pic>
          <p:nvPicPr>
            <p:cNvPr id="9" name="Image 7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141363" y="4086225"/>
              <a:ext cx="142875" cy="142875"/>
            </a:xfrm>
            <a:prstGeom prst="rect">
              <a:avLst/>
            </a:prstGeom>
          </p:spPr>
        </p:pic>
        <p:sp>
          <p:nvSpPr>
            <p:cNvPr id="30" name="Text 5"/>
            <p:cNvSpPr/>
            <p:nvPr/>
          </p:nvSpPr>
          <p:spPr>
            <a:xfrm>
              <a:off x="1360438" y="4048125"/>
              <a:ext cx="2661196" cy="60007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l">
                <a:lnSpc>
                  <a:spcPts val="1575"/>
                </a:lnSpc>
                <a:buNone/>
              </a:pPr>
              <a:r>
                <a:rPr lang="en-US" sz="1400" b="1" dirty="0">
                  <a:solidFill>
                    <a:srgbClr val="4A5568"/>
                  </a:solidFill>
                  <a:ea typeface="DM Sans" pitchFamily="34" charset="-122"/>
                  <a:cs typeface="DM Sans" pitchFamily="34" charset="-120"/>
                </a:rPr>
                <a:t>評估維度單一</a:t>
              </a:r>
              <a:r>
                <a:rPr lang="en-US" sz="1400" dirty="0">
                  <a:solidFill>
                    <a:srgbClr val="4A5568"/>
                  </a:solidFill>
                  <a:ea typeface="DM Sans" pitchFamily="34" charset="-122"/>
                  <a:cs typeface="DM Sans" pitchFamily="34" charset="-120"/>
                </a:rPr>
                <a:t>：過度聚焦薪資，忽略工作時數、加班頻率、休假制度等「工作生活平衡」因素</a:t>
              </a:r>
              <a:endParaRPr lang="en-US" sz="1400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16A2FE9-49EC-4749-91A8-B7602F7DD918}"/>
              </a:ext>
            </a:extLst>
          </p:cNvPr>
          <p:cNvGrpSpPr/>
          <p:nvPr/>
        </p:nvGrpSpPr>
        <p:grpSpPr>
          <a:xfrm>
            <a:off x="1141363" y="5191124"/>
            <a:ext cx="2880271" cy="600075"/>
            <a:chOff x="1141363" y="4800600"/>
            <a:chExt cx="2880271" cy="600075"/>
          </a:xfrm>
        </p:grpSpPr>
        <p:pic>
          <p:nvPicPr>
            <p:cNvPr id="10" name="Image 8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141363" y="4838700"/>
              <a:ext cx="161925" cy="142875"/>
            </a:xfrm>
            <a:prstGeom prst="rect">
              <a:avLst/>
            </a:prstGeom>
          </p:spPr>
        </p:pic>
        <p:sp>
          <p:nvSpPr>
            <p:cNvPr id="31" name="Text 6"/>
            <p:cNvSpPr/>
            <p:nvPr/>
          </p:nvSpPr>
          <p:spPr>
            <a:xfrm>
              <a:off x="1379488" y="4800600"/>
              <a:ext cx="2642146" cy="60007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l">
                <a:lnSpc>
                  <a:spcPts val="1575"/>
                </a:lnSpc>
                <a:buNone/>
              </a:pPr>
              <a:r>
                <a:rPr lang="en-US" sz="1400" b="1" dirty="0">
                  <a:solidFill>
                    <a:srgbClr val="4A5568"/>
                  </a:solidFill>
                  <a:ea typeface="DM Sans" pitchFamily="34" charset="-122"/>
                  <a:cs typeface="DM Sans" pitchFamily="34" charset="-120"/>
                </a:rPr>
                <a:t>職涯路徑模糊</a:t>
              </a:r>
              <a:r>
                <a:rPr lang="en-US" sz="1400" dirty="0">
                  <a:solidFill>
                    <a:srgbClr val="4A5568"/>
                  </a:solidFill>
                  <a:ea typeface="DM Sans" pitchFamily="34" charset="-122"/>
                  <a:cs typeface="DM Sans" pitchFamily="34" charset="-120"/>
                </a:rPr>
                <a:t>：缺乏數據支持的規劃建議，難以提升技能與累積經驗以達到期望薪資目標</a:t>
              </a:r>
              <a:endParaRPr lang="en-US" sz="1400" dirty="0"/>
            </a:p>
          </p:txBody>
        </p:sp>
      </p:grpSp>
      <p:sp>
        <p:nvSpPr>
          <p:cNvPr id="32" name="Text 7"/>
          <p:cNvSpPr/>
          <p:nvPr/>
        </p:nvSpPr>
        <p:spPr>
          <a:xfrm>
            <a:off x="4631234" y="2524125"/>
            <a:ext cx="288027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D3748"/>
                </a:solidFill>
                <a:ea typeface="DM Sans" pitchFamily="34" charset="-122"/>
                <a:cs typeface="DM Sans" pitchFamily="34" charset="-120"/>
              </a:rPr>
              <a:t>企業端痛點</a:t>
            </a:r>
            <a:endParaRPr lang="en-US" sz="1350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AD302E0-B77D-51ED-C94D-6026CDE6BE18}"/>
              </a:ext>
            </a:extLst>
          </p:cNvPr>
          <p:cNvGrpSpPr/>
          <p:nvPr/>
        </p:nvGrpSpPr>
        <p:grpSpPr>
          <a:xfrm>
            <a:off x="4631234" y="2943225"/>
            <a:ext cx="2880271" cy="600075"/>
            <a:chOff x="4631234" y="2943225"/>
            <a:chExt cx="2880271" cy="600075"/>
          </a:xfrm>
        </p:grpSpPr>
        <p:pic>
          <p:nvPicPr>
            <p:cNvPr id="14" name="Image 12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631234" y="2981325"/>
              <a:ext cx="180975" cy="142875"/>
            </a:xfrm>
            <a:prstGeom prst="rect">
              <a:avLst/>
            </a:prstGeom>
          </p:spPr>
        </p:pic>
        <p:sp>
          <p:nvSpPr>
            <p:cNvPr id="33" name="Text 8"/>
            <p:cNvSpPr/>
            <p:nvPr/>
          </p:nvSpPr>
          <p:spPr>
            <a:xfrm>
              <a:off x="4888409" y="2943225"/>
              <a:ext cx="2623096" cy="60007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l">
                <a:lnSpc>
                  <a:spcPts val="1575"/>
                </a:lnSpc>
                <a:buNone/>
              </a:pPr>
              <a:r>
                <a:rPr lang="en-US" sz="1400" b="1" dirty="0">
                  <a:solidFill>
                    <a:srgbClr val="4A5568"/>
                  </a:solidFill>
                  <a:ea typeface="DM Sans" pitchFamily="34" charset="-122"/>
                  <a:cs typeface="DM Sans" pitchFamily="34" charset="-120"/>
                </a:rPr>
                <a:t>人才招募與議薪困難</a:t>
              </a:r>
              <a:r>
                <a:rPr lang="en-US" sz="1400" dirty="0">
                  <a:solidFill>
                    <a:srgbClr val="4A5568"/>
                  </a:solidFill>
                  <a:ea typeface="DM Sans" pitchFamily="34" charset="-122"/>
                  <a:cs typeface="DM Sans" pitchFamily="34" charset="-120"/>
                </a:rPr>
                <a:t>：缺乏客觀市場數據，可能導致開出的薪資不具競爭力或成本過高</a:t>
              </a:r>
              <a:endParaRPr lang="en-US" sz="1400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3F713AF-BF9A-440F-EB71-3173E7279A78}"/>
              </a:ext>
            </a:extLst>
          </p:cNvPr>
          <p:cNvGrpSpPr/>
          <p:nvPr/>
        </p:nvGrpSpPr>
        <p:grpSpPr>
          <a:xfrm>
            <a:off x="4631234" y="3695700"/>
            <a:ext cx="2880271" cy="400050"/>
            <a:chOff x="4631234" y="3695700"/>
            <a:chExt cx="2880271" cy="400050"/>
          </a:xfrm>
        </p:grpSpPr>
        <p:pic>
          <p:nvPicPr>
            <p:cNvPr id="15" name="Image 13" descr="preencoded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631234" y="3733800"/>
              <a:ext cx="180975" cy="142875"/>
            </a:xfrm>
            <a:prstGeom prst="rect">
              <a:avLst/>
            </a:prstGeom>
          </p:spPr>
        </p:pic>
        <p:sp>
          <p:nvSpPr>
            <p:cNvPr id="34" name="Text 9"/>
            <p:cNvSpPr/>
            <p:nvPr/>
          </p:nvSpPr>
          <p:spPr>
            <a:xfrm>
              <a:off x="4888409" y="3695700"/>
              <a:ext cx="2623096" cy="4000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l">
                <a:lnSpc>
                  <a:spcPts val="1575"/>
                </a:lnSpc>
                <a:buNone/>
              </a:pPr>
              <a:r>
                <a:rPr lang="en-US" sz="1400" b="1" dirty="0">
                  <a:solidFill>
                    <a:srgbClr val="4A5568"/>
                  </a:solidFill>
                  <a:ea typeface="DM Sans" pitchFamily="34" charset="-122"/>
                  <a:cs typeface="DM Sans" pitchFamily="34" charset="-120"/>
                </a:rPr>
                <a:t>人才流失風險高</a:t>
              </a:r>
              <a:r>
                <a:rPr lang="en-US" sz="1400" dirty="0">
                  <a:solidFill>
                    <a:srgbClr val="4A5568"/>
                  </a:solidFill>
                  <a:ea typeface="DM Sans" pitchFamily="34" charset="-122"/>
                  <a:cs typeface="DM Sans" pitchFamily="34" charset="-120"/>
                </a:rPr>
                <a:t>：薪酬結構不夠公平透明，可能導致核心人才因薪資考量而離職</a:t>
              </a:r>
              <a:endParaRPr lang="en-US" sz="1400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A1F423A-4B74-A4D4-A917-581BE4C25445}"/>
              </a:ext>
            </a:extLst>
          </p:cNvPr>
          <p:cNvGrpSpPr/>
          <p:nvPr/>
        </p:nvGrpSpPr>
        <p:grpSpPr>
          <a:xfrm>
            <a:off x="4631234" y="4374590"/>
            <a:ext cx="2880271" cy="600075"/>
            <a:chOff x="4631234" y="4248150"/>
            <a:chExt cx="2880271" cy="600075"/>
          </a:xfrm>
        </p:grpSpPr>
        <p:pic>
          <p:nvPicPr>
            <p:cNvPr id="16" name="Image 14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631234" y="4286250"/>
              <a:ext cx="180975" cy="142875"/>
            </a:xfrm>
            <a:prstGeom prst="rect">
              <a:avLst/>
            </a:prstGeom>
          </p:spPr>
        </p:pic>
        <p:sp>
          <p:nvSpPr>
            <p:cNvPr id="35" name="Text 10"/>
            <p:cNvSpPr/>
            <p:nvPr/>
          </p:nvSpPr>
          <p:spPr>
            <a:xfrm>
              <a:off x="4888409" y="4248150"/>
              <a:ext cx="2623096" cy="60007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l">
                <a:lnSpc>
                  <a:spcPts val="1575"/>
                </a:lnSpc>
                <a:buNone/>
              </a:pPr>
              <a:r>
                <a:rPr lang="en-US" sz="1400" b="1" dirty="0">
                  <a:solidFill>
                    <a:srgbClr val="4A5568"/>
                  </a:solidFill>
                  <a:ea typeface="DM Sans" pitchFamily="34" charset="-122"/>
                  <a:cs typeface="DM Sans" pitchFamily="34" charset="-120"/>
                </a:rPr>
                <a:t>薪酬制度僵化</a:t>
              </a:r>
              <a:r>
                <a:rPr lang="en-US" sz="1400" dirty="0">
                  <a:solidFill>
                    <a:srgbClr val="4A5568"/>
                  </a:solidFill>
                  <a:ea typeface="DM Sans" pitchFamily="34" charset="-122"/>
                  <a:cs typeface="DM Sans" pitchFamily="34" charset="-120"/>
                </a:rPr>
                <a:t>：市場環境與人才需求瞬息萬變，缺乏數據支持的薪酬結構難以快速應對</a:t>
              </a:r>
              <a:endParaRPr lang="en-US" sz="140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D610609-DAB7-71B1-8419-0D8AEA0361BB}"/>
              </a:ext>
            </a:extLst>
          </p:cNvPr>
          <p:cNvGrpSpPr/>
          <p:nvPr/>
        </p:nvGrpSpPr>
        <p:grpSpPr>
          <a:xfrm>
            <a:off x="4631234" y="5223570"/>
            <a:ext cx="2880271" cy="400050"/>
            <a:chOff x="4631234" y="5000625"/>
            <a:chExt cx="2880271" cy="400050"/>
          </a:xfrm>
        </p:grpSpPr>
        <p:pic>
          <p:nvPicPr>
            <p:cNvPr id="17" name="Image 15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631234" y="5038725"/>
              <a:ext cx="142875" cy="142875"/>
            </a:xfrm>
            <a:prstGeom prst="rect">
              <a:avLst/>
            </a:prstGeom>
          </p:spPr>
        </p:pic>
        <p:sp>
          <p:nvSpPr>
            <p:cNvPr id="36" name="Text 11"/>
            <p:cNvSpPr/>
            <p:nvPr/>
          </p:nvSpPr>
          <p:spPr>
            <a:xfrm>
              <a:off x="4850309" y="5000625"/>
              <a:ext cx="2661196" cy="4000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l">
                <a:lnSpc>
                  <a:spcPts val="1575"/>
                </a:lnSpc>
                <a:buNone/>
              </a:pPr>
              <a:r>
                <a:rPr lang="en-US" sz="1400" b="1" dirty="0">
                  <a:solidFill>
                    <a:srgbClr val="4A5568"/>
                  </a:solidFill>
                  <a:ea typeface="DM Sans" pitchFamily="34" charset="-122"/>
                  <a:cs typeface="DM Sans" pitchFamily="34" charset="-120"/>
                </a:rPr>
                <a:t>合規風險</a:t>
              </a:r>
              <a:r>
                <a:rPr lang="en-US" sz="1400" dirty="0">
                  <a:solidFill>
                    <a:srgbClr val="4A5568"/>
                  </a:solidFill>
                  <a:ea typeface="DM Sans" pitchFamily="34" charset="-122"/>
                  <a:cs typeface="DM Sans" pitchFamily="34" charset="-120"/>
                </a:rPr>
                <a:t>：未能精準掌握勞基法規，可能面臨法律風險與罰款</a:t>
              </a:r>
              <a:endParaRPr lang="en-US" sz="1400" dirty="0"/>
            </a:p>
          </p:txBody>
        </p:sp>
      </p:grpSp>
      <p:sp>
        <p:nvSpPr>
          <p:cNvPr id="37" name="Text 12"/>
          <p:cNvSpPr/>
          <p:nvPr/>
        </p:nvSpPr>
        <p:spPr>
          <a:xfrm>
            <a:off x="8121104" y="2524125"/>
            <a:ext cx="28804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D3748"/>
                </a:solidFill>
                <a:ea typeface="DM Sans" pitchFamily="34" charset="-122"/>
                <a:cs typeface="DM Sans" pitchFamily="34" charset="-120"/>
              </a:rPr>
              <a:t>系統解決方案</a:t>
            </a:r>
            <a:endParaRPr lang="en-US" sz="1350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77B8B27-4766-E52D-2828-B3D95166388E}"/>
              </a:ext>
            </a:extLst>
          </p:cNvPr>
          <p:cNvGrpSpPr/>
          <p:nvPr/>
        </p:nvGrpSpPr>
        <p:grpSpPr>
          <a:xfrm>
            <a:off x="8121104" y="2943225"/>
            <a:ext cx="2880420" cy="400050"/>
            <a:chOff x="8121104" y="2943225"/>
            <a:chExt cx="2880420" cy="400050"/>
          </a:xfrm>
        </p:grpSpPr>
        <p:pic>
          <p:nvPicPr>
            <p:cNvPr id="21" name="Image 19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121104" y="2981325"/>
              <a:ext cx="142875" cy="142875"/>
            </a:xfrm>
            <a:prstGeom prst="rect">
              <a:avLst/>
            </a:prstGeom>
          </p:spPr>
        </p:pic>
        <p:sp>
          <p:nvSpPr>
            <p:cNvPr id="38" name="Text 13"/>
            <p:cNvSpPr/>
            <p:nvPr/>
          </p:nvSpPr>
          <p:spPr>
            <a:xfrm>
              <a:off x="8340179" y="2943225"/>
              <a:ext cx="2661345" cy="4000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l">
                <a:lnSpc>
                  <a:spcPts val="1575"/>
                </a:lnSpc>
                <a:buNone/>
              </a:pPr>
              <a:r>
                <a:rPr lang="en-US" sz="1400" b="1" dirty="0">
                  <a:solidFill>
                    <a:srgbClr val="4A5568"/>
                  </a:solidFill>
                  <a:ea typeface="DM Sans" pitchFamily="34" charset="-122"/>
                  <a:cs typeface="DM Sans" pitchFamily="34" charset="-120"/>
                </a:rPr>
                <a:t>透明化資訊</a:t>
              </a:r>
              <a:r>
                <a:rPr lang="en-US" sz="1400" dirty="0">
                  <a:solidFill>
                    <a:srgbClr val="4A5568"/>
                  </a:solidFill>
                  <a:ea typeface="DM Sans" pitchFamily="34" charset="-122"/>
                  <a:cs typeface="DM Sans" pitchFamily="34" charset="-120"/>
                </a:rPr>
                <a:t>：提供客觀的市場薪資數據，消除資訊不對稱問題</a:t>
              </a:r>
              <a:endParaRPr lang="en-US" sz="1400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FF52037-F2EA-119B-48D5-00611D39DA7B}"/>
              </a:ext>
            </a:extLst>
          </p:cNvPr>
          <p:cNvGrpSpPr/>
          <p:nvPr/>
        </p:nvGrpSpPr>
        <p:grpSpPr>
          <a:xfrm>
            <a:off x="8121104" y="3612590"/>
            <a:ext cx="2880420" cy="400050"/>
            <a:chOff x="8121104" y="3495675"/>
            <a:chExt cx="2880420" cy="400050"/>
          </a:xfrm>
        </p:grpSpPr>
        <p:pic>
          <p:nvPicPr>
            <p:cNvPr id="22" name="Image 20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121104" y="3533775"/>
              <a:ext cx="142875" cy="142875"/>
            </a:xfrm>
            <a:prstGeom prst="rect">
              <a:avLst/>
            </a:prstGeom>
          </p:spPr>
        </p:pic>
        <p:sp>
          <p:nvSpPr>
            <p:cNvPr id="39" name="Text 14"/>
            <p:cNvSpPr/>
            <p:nvPr/>
          </p:nvSpPr>
          <p:spPr>
            <a:xfrm>
              <a:off x="8340179" y="3495675"/>
              <a:ext cx="2661345" cy="4000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l">
                <a:lnSpc>
                  <a:spcPts val="1575"/>
                </a:lnSpc>
                <a:buNone/>
              </a:pPr>
              <a:r>
                <a:rPr lang="en-US" sz="1400" b="1" dirty="0">
                  <a:solidFill>
                    <a:srgbClr val="4A5568"/>
                  </a:solidFill>
                  <a:ea typeface="DM Sans" pitchFamily="34" charset="-122"/>
                  <a:cs typeface="DM Sans" pitchFamily="34" charset="-120"/>
                </a:rPr>
                <a:t>多維度評估</a:t>
              </a:r>
              <a:r>
                <a:rPr lang="en-US" sz="1400" dirty="0">
                  <a:solidFill>
                    <a:srgbClr val="4A5568"/>
                  </a:solidFill>
                  <a:ea typeface="DM Sans" pitchFamily="34" charset="-122"/>
                  <a:cs typeface="DM Sans" pitchFamily="34" charset="-120"/>
                </a:rPr>
                <a:t>：整合薪資、工作生活平衡等多項指標，提供全面評價</a:t>
              </a:r>
              <a:endParaRPr lang="en-US" sz="1400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8037AB3-3C26-1BC2-7432-15909423FD7F}"/>
              </a:ext>
            </a:extLst>
          </p:cNvPr>
          <p:cNvGrpSpPr/>
          <p:nvPr/>
        </p:nvGrpSpPr>
        <p:grpSpPr>
          <a:xfrm>
            <a:off x="8111580" y="4409970"/>
            <a:ext cx="2880420" cy="400050"/>
            <a:chOff x="8121104" y="4048125"/>
            <a:chExt cx="2880420" cy="400050"/>
          </a:xfrm>
        </p:grpSpPr>
        <p:pic>
          <p:nvPicPr>
            <p:cNvPr id="23" name="Image 21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121104" y="4086225"/>
              <a:ext cx="142875" cy="142875"/>
            </a:xfrm>
            <a:prstGeom prst="rect">
              <a:avLst/>
            </a:prstGeom>
          </p:spPr>
        </p:pic>
        <p:sp>
          <p:nvSpPr>
            <p:cNvPr id="40" name="Text 15"/>
            <p:cNvSpPr/>
            <p:nvPr/>
          </p:nvSpPr>
          <p:spPr>
            <a:xfrm>
              <a:off x="8340179" y="4048125"/>
              <a:ext cx="2661345" cy="4000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l">
                <a:lnSpc>
                  <a:spcPts val="1575"/>
                </a:lnSpc>
                <a:buNone/>
              </a:pPr>
              <a:r>
                <a:rPr lang="en-US" sz="1400" b="1" dirty="0">
                  <a:solidFill>
                    <a:srgbClr val="4A5568"/>
                  </a:solidFill>
                  <a:ea typeface="DM Sans" pitchFamily="34" charset="-122"/>
                  <a:cs typeface="DM Sans" pitchFamily="34" charset="-120"/>
                </a:rPr>
                <a:t>數據驅動決策</a:t>
              </a:r>
              <a:r>
                <a:rPr lang="en-US" sz="1400" dirty="0">
                  <a:solidFill>
                    <a:srgbClr val="4A5568"/>
                  </a:solidFill>
                  <a:ea typeface="DM Sans" pitchFamily="34" charset="-122"/>
                  <a:cs typeface="DM Sans" pitchFamily="34" charset="-120"/>
                </a:rPr>
                <a:t>：AI分析提供客觀依據，降低主觀判斷帶來的偏差</a:t>
              </a:r>
              <a:endParaRPr lang="en-US" sz="1400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B75D149-FE46-5595-CD82-E48FB324937A}"/>
              </a:ext>
            </a:extLst>
          </p:cNvPr>
          <p:cNvGrpSpPr/>
          <p:nvPr/>
        </p:nvGrpSpPr>
        <p:grpSpPr>
          <a:xfrm>
            <a:off x="8111580" y="5189551"/>
            <a:ext cx="2880420" cy="400050"/>
            <a:chOff x="8121104" y="4600575"/>
            <a:chExt cx="2880420" cy="400050"/>
          </a:xfrm>
        </p:grpSpPr>
        <p:pic>
          <p:nvPicPr>
            <p:cNvPr id="24" name="Image 22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121104" y="4638675"/>
              <a:ext cx="142875" cy="142875"/>
            </a:xfrm>
            <a:prstGeom prst="rect">
              <a:avLst/>
            </a:prstGeom>
          </p:spPr>
        </p:pic>
        <p:sp>
          <p:nvSpPr>
            <p:cNvPr id="41" name="Text 16"/>
            <p:cNvSpPr/>
            <p:nvPr/>
          </p:nvSpPr>
          <p:spPr>
            <a:xfrm>
              <a:off x="8340179" y="4600575"/>
              <a:ext cx="2661345" cy="4000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l">
                <a:lnSpc>
                  <a:spcPts val="1575"/>
                </a:lnSpc>
                <a:buNone/>
              </a:pPr>
              <a:r>
                <a:rPr lang="en-US" sz="1400" b="1" dirty="0">
                  <a:solidFill>
                    <a:srgbClr val="4A5568"/>
                  </a:solidFill>
                  <a:ea typeface="DM Sans" pitchFamily="34" charset="-122"/>
                  <a:cs typeface="DM Sans" pitchFamily="34" charset="-120"/>
                </a:rPr>
                <a:t>即時市場洞察</a:t>
              </a:r>
              <a:r>
                <a:rPr lang="en-US" sz="1400" dirty="0">
                  <a:solidFill>
                    <a:srgbClr val="4A5568"/>
                  </a:solidFill>
                  <a:ea typeface="DM Sans" pitchFamily="34" charset="-122"/>
                  <a:cs typeface="DM Sans" pitchFamily="34" charset="-120"/>
                </a:rPr>
                <a:t>：持續追蹤市場趨勢，確保薪酬策略的競爭力與合規性</a:t>
              </a:r>
              <a:endParaRPr lang="en-US" sz="1400" dirty="0"/>
            </a:p>
          </p:txBody>
        </p:sp>
      </p:grpSp>
      <p:pic>
        <p:nvPicPr>
          <p:cNvPr id="55" name="Image 2" descr="preencoded.png">
            <a:extLst>
              <a:ext uri="{FF2B5EF4-FFF2-40B4-BE49-F238E27FC236}">
                <a16:creationId xmlns:a16="http://schemas.microsoft.com/office/drawing/2014/main" id="{2B3288EE-504F-4850-62E9-FC68BEE6420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67185" y="1843768"/>
            <a:ext cx="428625" cy="489857"/>
          </a:xfrm>
          <a:prstGeom prst="rect">
            <a:avLst/>
          </a:prstGeom>
        </p:spPr>
      </p:pic>
      <p:pic>
        <p:nvPicPr>
          <p:cNvPr id="56" name="Image 11" descr="preencoded.png">
            <a:extLst>
              <a:ext uri="{FF2B5EF4-FFF2-40B4-BE49-F238E27FC236}">
                <a16:creationId xmlns:a16="http://schemas.microsoft.com/office/drawing/2014/main" id="{58075C07-817B-F7AE-6AC1-D2B9B0FBF2A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62638" y="1841005"/>
            <a:ext cx="417462" cy="556616"/>
          </a:xfrm>
          <a:prstGeom prst="rect">
            <a:avLst/>
          </a:prstGeom>
        </p:spPr>
      </p:pic>
      <p:pic>
        <p:nvPicPr>
          <p:cNvPr id="57" name="Image 13" descr="preencoded.png">
            <a:extLst>
              <a:ext uri="{FF2B5EF4-FFF2-40B4-BE49-F238E27FC236}">
                <a16:creationId xmlns:a16="http://schemas.microsoft.com/office/drawing/2014/main" id="{8461A0F4-57BA-C992-DFD1-2CFD9D845B2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09274" y="1841005"/>
            <a:ext cx="515541" cy="5155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picture-search.skywork.ai/aippt/file_template/1953702771894779904/backgrounds/slide1_0d175f_df75949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863" y="1714500"/>
            <a:ext cx="10363200" cy="105608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3263" y="2004417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7088" y="2128242"/>
            <a:ext cx="22860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863" y="2962573"/>
            <a:ext cx="10363200" cy="105608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3263" y="3252490"/>
            <a:ext cx="476250" cy="4762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8513" y="3376315"/>
            <a:ext cx="285750" cy="228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863" y="4210645"/>
            <a:ext cx="10363200" cy="1056084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3263" y="4500563"/>
            <a:ext cx="476250" cy="476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7088" y="4624388"/>
            <a:ext cx="228600" cy="228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0863" y="5458718"/>
            <a:ext cx="10363200" cy="1056084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3263" y="5748635"/>
            <a:ext cx="476250" cy="4762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12800" y="5872460"/>
            <a:ext cx="257175" cy="2286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950863" y="685800"/>
            <a:ext cx="10363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4A90A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執行方向與技術實現</a:t>
            </a:r>
            <a:endParaRPr lang="en-US" sz="3000" dirty="0"/>
          </a:p>
        </p:txBody>
      </p:sp>
      <p:sp>
        <p:nvSpPr>
          <p:cNvPr id="17" name="Text 1"/>
          <p:cNvSpPr/>
          <p:nvPr/>
        </p:nvSpPr>
        <p:spPr>
          <a:xfrm>
            <a:off x="950863" y="1234380"/>
            <a:ext cx="103632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dirty="0">
                <a:solidFill>
                  <a:srgbClr val="2D374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系統架構四層設計</a:t>
            </a:r>
            <a:endParaRPr lang="en-US" sz="1500" dirty="0"/>
          </a:p>
        </p:txBody>
      </p:sp>
      <p:sp>
        <p:nvSpPr>
          <p:cNvPr id="18" name="Text 2"/>
          <p:cNvSpPr/>
          <p:nvPr/>
        </p:nvSpPr>
        <p:spPr>
          <a:xfrm>
            <a:off x="1722388" y="1975842"/>
            <a:ext cx="816590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數據獲取層</a:t>
            </a:r>
            <a:endParaRPr lang="en-US" sz="1500" dirty="0"/>
          </a:p>
        </p:txBody>
      </p:sp>
      <p:sp>
        <p:nvSpPr>
          <p:cNvPr id="19" name="Text 3"/>
          <p:cNvSpPr/>
          <p:nvPr/>
        </p:nvSpPr>
        <p:spPr>
          <a:xfrm>
            <a:off x="1722388" y="2280642"/>
            <a:ext cx="979908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利用爬蟲技術從求職網站、行業論壇等來源收集薪資數據，並透過API接口獲取結構化數據，最後進行數據清洗與預處理。</a:t>
            </a:r>
            <a:endParaRPr lang="en-US" sz="1200" dirty="0"/>
          </a:p>
        </p:txBody>
      </p:sp>
      <p:sp>
        <p:nvSpPr>
          <p:cNvPr id="20" name="Text 4"/>
          <p:cNvSpPr/>
          <p:nvPr/>
        </p:nvSpPr>
        <p:spPr>
          <a:xfrm>
            <a:off x="1722388" y="3223915"/>
            <a:ext cx="70072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數據處理與特徵工程層</a:t>
            </a:r>
            <a:endParaRPr lang="en-US" sz="1500" dirty="0"/>
          </a:p>
        </p:txBody>
      </p:sp>
      <p:sp>
        <p:nvSpPr>
          <p:cNvPr id="21" name="Text 5"/>
          <p:cNvSpPr/>
          <p:nvPr/>
        </p:nvSpPr>
        <p:spPr>
          <a:xfrm>
            <a:off x="1722388" y="3528715"/>
            <a:ext cx="84087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zh-TW" alt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運用自然語言處理技術進行文本分析，將非數值型特徵量化，並提取時間序列特徵，為</a:t>
            </a: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</a:t>
            </a:r>
            <a:r>
              <a:rPr lang="zh-TW" alt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模型準備數據。</a:t>
            </a:r>
          </a:p>
        </p:txBody>
      </p:sp>
      <p:sp>
        <p:nvSpPr>
          <p:cNvPr id="22" name="Text 6"/>
          <p:cNvSpPr/>
          <p:nvPr/>
        </p:nvSpPr>
        <p:spPr>
          <a:xfrm>
            <a:off x="1722388" y="4471988"/>
            <a:ext cx="859631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5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深度學習</a:t>
            </a:r>
            <a:r>
              <a:rPr lang="zh-TW" alt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模型層</a:t>
            </a:r>
            <a:endParaRPr lang="en-US" sz="1500" dirty="0"/>
          </a:p>
        </p:txBody>
      </p:sp>
      <p:sp>
        <p:nvSpPr>
          <p:cNvPr id="23" name="Text 7"/>
          <p:cNvSpPr/>
          <p:nvPr/>
        </p:nvSpPr>
        <p:spPr>
          <a:xfrm>
            <a:off x="1722388" y="4776788"/>
            <a:ext cx="103155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zh-TW" alt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構建混合深度學習模型，並定義可合理化評核薪資、工時、福利等參考之數學公式。</a:t>
            </a:r>
          </a:p>
        </p:txBody>
      </p:sp>
      <p:sp>
        <p:nvSpPr>
          <p:cNvPr id="24" name="Text 8"/>
          <p:cNvSpPr/>
          <p:nvPr/>
        </p:nvSpPr>
        <p:spPr>
          <a:xfrm>
            <a:off x="1722388" y="5720060"/>
            <a:ext cx="7924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zh-TW" alt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應用與可視化層</a:t>
            </a:r>
          </a:p>
        </p:txBody>
      </p:sp>
      <p:sp>
        <p:nvSpPr>
          <p:cNvPr id="25" name="Text 9"/>
          <p:cNvSpPr/>
          <p:nvPr/>
        </p:nvSpPr>
        <p:spPr>
          <a:xfrm>
            <a:off x="1722388" y="6024860"/>
            <a:ext cx="9509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zh-TW" alt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開發直觀易用的用戶界面，提供交互式薪資分析報告、職涯發展藍圖和市場行情儀表板，以圖形化方式呈現複雜數據。</a:t>
            </a:r>
            <a:endParaRPr lang="en-US" sz="1200" dirty="0"/>
          </a:p>
        </p:txBody>
      </p:sp>
      <p:sp>
        <p:nvSpPr>
          <p:cNvPr id="26" name="Text 10"/>
          <p:cNvSpPr/>
          <p:nvPr/>
        </p:nvSpPr>
        <p:spPr>
          <a:xfrm>
            <a:off x="11620500" y="6438900"/>
            <a:ext cx="457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/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picture-search.skywork.ai/aippt/file_template/1953702771894779904/backgrounds/slide1_0d175f_df75949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863" y="1508671"/>
            <a:ext cx="3277493" cy="4800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1363" y="1756321"/>
            <a:ext cx="200025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4979" y="2415630"/>
            <a:ext cx="190500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5929" y="2956471"/>
            <a:ext cx="238125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4979" y="3497313"/>
            <a:ext cx="190500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8791" y="4038154"/>
            <a:ext cx="142875" cy="190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68791" y="4438204"/>
            <a:ext cx="142875" cy="190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56956" y="1508671"/>
            <a:ext cx="3277642" cy="4800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47456" y="1756321"/>
            <a:ext cx="228600" cy="2286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63198" y="1508671"/>
            <a:ext cx="3277493" cy="4800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53698" y="1756321"/>
            <a:ext cx="171450" cy="228600"/>
          </a:xfrm>
          <a:prstGeom prst="rect">
            <a:avLst/>
          </a:prstGeom>
        </p:spPr>
      </p:pic>
      <p:sp>
        <p:nvSpPr>
          <p:cNvPr id="36" name="Text 1"/>
          <p:cNvSpPr/>
          <p:nvPr/>
        </p:nvSpPr>
        <p:spPr>
          <a:xfrm>
            <a:off x="950863" y="548580"/>
            <a:ext cx="7751564" cy="5725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509"/>
              </a:lnSpc>
              <a:buNone/>
            </a:pPr>
            <a:r>
              <a:rPr lang="en-US" sz="4099" b="1" dirty="0">
                <a:solidFill>
                  <a:srgbClr val="4A90A4"/>
                </a:solidFill>
                <a:ea typeface="Arial" pitchFamily="34" charset="-122"/>
                <a:cs typeface="Arial" pitchFamily="34" charset="-120"/>
              </a:rPr>
              <a:t>技術執行方案</a:t>
            </a:r>
            <a:endParaRPr lang="en-US" sz="4099" b="1" dirty="0"/>
          </a:p>
        </p:txBody>
      </p:sp>
      <p:sp>
        <p:nvSpPr>
          <p:cNvPr id="37" name="Text 2"/>
          <p:cNvSpPr/>
          <p:nvPr/>
        </p:nvSpPr>
        <p:spPr>
          <a:xfrm>
            <a:off x="1417588" y="1699171"/>
            <a:ext cx="3475792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4A90A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數據來源與爬取</a:t>
            </a:r>
            <a:endParaRPr lang="en-US" sz="1800" dirty="0"/>
          </a:p>
        </p:txBody>
      </p:sp>
      <p:sp>
        <p:nvSpPr>
          <p:cNvPr id="38" name="Text 3"/>
          <p:cNvSpPr/>
          <p:nvPr/>
        </p:nvSpPr>
        <p:spPr>
          <a:xfrm>
            <a:off x="1468829" y="2368005"/>
            <a:ext cx="2553593" cy="426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公開求職網站（104人力銀行、LinkedIn）</a:t>
            </a:r>
            <a:endParaRPr lang="en-US" sz="1200" dirty="0"/>
          </a:p>
        </p:txBody>
      </p:sp>
      <p:sp>
        <p:nvSpPr>
          <p:cNvPr id="39" name="Text 4"/>
          <p:cNvSpPr/>
          <p:nvPr/>
        </p:nvSpPr>
        <p:spPr>
          <a:xfrm>
            <a:off x="1468829" y="2908846"/>
            <a:ext cx="2553593" cy="426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專業論壇與社群（PTT Salary版、Dcard工作版）</a:t>
            </a:r>
            <a:endParaRPr lang="en-US" sz="1200" dirty="0"/>
          </a:p>
        </p:txBody>
      </p:sp>
      <p:sp>
        <p:nvSpPr>
          <p:cNvPr id="40" name="Text 5"/>
          <p:cNvSpPr/>
          <p:nvPr/>
        </p:nvSpPr>
        <p:spPr>
          <a:xfrm>
            <a:off x="1468829" y="3449688"/>
            <a:ext cx="2553593" cy="426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政府公開數據（行政院主計總處、勞動部）</a:t>
            </a:r>
            <a:endParaRPr lang="en-US" sz="1200" dirty="0"/>
          </a:p>
        </p:txBody>
      </p:sp>
      <p:sp>
        <p:nvSpPr>
          <p:cNvPr id="41" name="Text 6"/>
          <p:cNvSpPr/>
          <p:nvPr/>
        </p:nvSpPr>
        <p:spPr>
          <a:xfrm>
            <a:off x="1468829" y="3990529"/>
            <a:ext cx="3064312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合作企業匿名化內部數據</a:t>
            </a:r>
            <a:endParaRPr lang="en-US" sz="1200" dirty="0"/>
          </a:p>
        </p:txBody>
      </p:sp>
      <p:sp>
        <p:nvSpPr>
          <p:cNvPr id="42" name="Text 7"/>
          <p:cNvSpPr/>
          <p:nvPr/>
        </p:nvSpPr>
        <p:spPr>
          <a:xfrm>
            <a:off x="1468829" y="4390579"/>
            <a:ext cx="2553593" cy="426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付費API串接（Levels.fyi等專業薪資平台）</a:t>
            </a:r>
            <a:endParaRPr lang="en-US" sz="1200" dirty="0"/>
          </a:p>
        </p:txBody>
      </p:sp>
      <p:sp>
        <p:nvSpPr>
          <p:cNvPr id="45" name="Text 10"/>
          <p:cNvSpPr/>
          <p:nvPr/>
        </p:nvSpPr>
        <p:spPr>
          <a:xfrm>
            <a:off x="4952256" y="1699171"/>
            <a:ext cx="2896642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4A90A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AI模型設計</a:t>
            </a:r>
            <a:endParaRPr lang="en-US" sz="1800" dirty="0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3C8A2A7-C4F3-3513-E9F7-617693EA5BBC}"/>
              </a:ext>
            </a:extLst>
          </p:cNvPr>
          <p:cNvGrpSpPr/>
          <p:nvPr/>
        </p:nvGrpSpPr>
        <p:grpSpPr>
          <a:xfrm>
            <a:off x="4651058" y="2163738"/>
            <a:ext cx="3421295" cy="2659707"/>
            <a:chOff x="4651058" y="2368005"/>
            <a:chExt cx="3421295" cy="2659707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19FBE9FD-2D48-7602-4AAE-CA0E4AB8C267}"/>
                </a:ext>
              </a:extLst>
            </p:cNvPr>
            <p:cNvGrpSpPr/>
            <p:nvPr/>
          </p:nvGrpSpPr>
          <p:grpSpPr>
            <a:xfrm>
              <a:off x="4651058" y="2368005"/>
              <a:ext cx="2896642" cy="426541"/>
              <a:chOff x="4651058" y="2368005"/>
              <a:chExt cx="2896642" cy="426541"/>
            </a:xfrm>
          </p:grpSpPr>
          <p:pic>
            <p:nvPicPr>
              <p:cNvPr id="16" name="Image 14" descr="preencoded.png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651058" y="2415630"/>
                <a:ext cx="238125" cy="190500"/>
              </a:xfrm>
              <a:prstGeom prst="rect">
                <a:avLst/>
              </a:prstGeom>
            </p:spPr>
          </p:pic>
          <p:sp>
            <p:nvSpPr>
              <p:cNvPr id="46" name="Text 11"/>
              <p:cNvSpPr/>
              <p:nvPr/>
            </p:nvSpPr>
            <p:spPr>
              <a:xfrm>
                <a:off x="4993958" y="2368005"/>
                <a:ext cx="2553742" cy="426541"/>
              </a:xfrm>
              <a:prstGeom prst="rect">
                <a:avLst/>
              </a:prstGeom>
              <a:noFill/>
              <a:ln/>
            </p:spPr>
            <p:txBody>
              <a:bodyPr vert="horz" wrap="square" lIns="0" tIns="0" rIns="0" bIns="0" rtlCol="0" anchor="t"/>
              <a:lstStyle/>
              <a:p>
                <a:pPr>
                  <a:lnSpc>
                    <a:spcPts val="1680"/>
                  </a:lnSpc>
                </a:pPr>
                <a:r>
                  <a:rPr lang="en-US" sz="1200" dirty="0" err="1">
                    <a:solidFill>
                      <a:srgbClr val="2D3748"/>
                    </a:solidFill>
                    <a:latin typeface="DM Sans" pitchFamily="34" charset="0"/>
                    <a:ea typeface="DM Sans" pitchFamily="34" charset="-122"/>
                    <a:cs typeface="DM Sans" pitchFamily="34" charset="-120"/>
                  </a:rPr>
                  <a:t>自然語言處理模型解析職務描述與履歷，提取有用之特徵資訊</a:t>
                </a:r>
                <a:br>
                  <a:rPr lang="en-US" sz="1200" dirty="0">
                    <a:solidFill>
                      <a:srgbClr val="2D3748"/>
                    </a:solidFill>
                    <a:latin typeface="DM Sans" pitchFamily="34" charset="0"/>
                    <a:ea typeface="DM Sans" pitchFamily="34" charset="-122"/>
                    <a:cs typeface="DM Sans" pitchFamily="34" charset="-120"/>
                  </a:rPr>
                </a:br>
                <a:r>
                  <a:rPr lang="en-US" sz="1200" dirty="0" err="1">
                    <a:solidFill>
                      <a:srgbClr val="2D3748"/>
                    </a:solidFill>
                    <a:latin typeface="DM Sans" pitchFamily="34" charset="0"/>
                    <a:ea typeface="DM Sans" pitchFamily="34" charset="-122"/>
                    <a:cs typeface="DM Sans" pitchFamily="34" charset="-120"/>
                  </a:rPr>
                  <a:t>混合式深度學習模型</a:t>
                </a:r>
                <a:br>
                  <a:rPr lang="en-US" sz="1200" dirty="0">
                    <a:solidFill>
                      <a:srgbClr val="2D3748"/>
                    </a:solidFill>
                    <a:latin typeface="DM Sans" pitchFamily="34" charset="0"/>
                    <a:ea typeface="DM Sans" pitchFamily="34" charset="-122"/>
                    <a:cs typeface="DM Sans" pitchFamily="34" charset="-120"/>
                  </a:rPr>
                </a:br>
                <a:r>
                  <a:rPr lang="en-US" sz="1200" dirty="0">
                    <a:solidFill>
                      <a:srgbClr val="2D3748"/>
                    </a:solidFill>
                    <a:latin typeface="DM Sans" pitchFamily="34" charset="0"/>
                    <a:ea typeface="DM Sans" pitchFamily="34" charset="-122"/>
                    <a:cs typeface="DM Sans" pitchFamily="34" charset="-120"/>
                  </a:rPr>
                  <a:t>(LSTM + Random Forest)</a:t>
                </a:r>
                <a:br>
                  <a:rPr lang="en-US" sz="1200" dirty="0">
                    <a:solidFill>
                      <a:srgbClr val="2D3748"/>
                    </a:solidFill>
                    <a:latin typeface="DM Sans" pitchFamily="34" charset="0"/>
                    <a:ea typeface="DM Sans" pitchFamily="34" charset="-122"/>
                    <a:cs typeface="DM Sans" pitchFamily="34" charset="-120"/>
                  </a:rPr>
                </a:br>
                <a:r>
                  <a:rPr lang="en-US" sz="1200" dirty="0" err="1">
                    <a:solidFill>
                      <a:srgbClr val="2D3748"/>
                    </a:solidFill>
                    <a:latin typeface="DM Sans" pitchFamily="34" charset="0"/>
                    <a:ea typeface="DM Sans" pitchFamily="34" charset="-122"/>
                    <a:cs typeface="DM Sans" pitchFamily="34" charset="-120"/>
                  </a:rPr>
                  <a:t>搭配梯度提升機（XGBoost）預測薪資分佈區間</a:t>
                </a:r>
                <a:endParaRPr lang="en-US" sz="1200" dirty="0"/>
              </a:p>
              <a:p>
                <a:pPr>
                  <a:lnSpc>
                    <a:spcPts val="1680"/>
                  </a:lnSpc>
                </a:pPr>
                <a:endParaRPr lang="en-US" sz="1200" dirty="0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BF1559C0-0F30-0533-B260-DA8BB50D00DF}"/>
                </a:ext>
              </a:extLst>
            </p:cNvPr>
            <p:cNvGrpSpPr/>
            <p:nvPr/>
          </p:nvGrpSpPr>
          <p:grpSpPr>
            <a:xfrm>
              <a:off x="4664963" y="3848696"/>
              <a:ext cx="3407390" cy="1179016"/>
              <a:chOff x="4651058" y="3449688"/>
              <a:chExt cx="3407390" cy="1179016"/>
            </a:xfrm>
          </p:grpSpPr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A1C00FA8-285D-44F6-88F3-E1194652D313}"/>
                  </a:ext>
                </a:extLst>
              </p:cNvPr>
              <p:cNvGrpSpPr/>
              <p:nvPr/>
            </p:nvGrpSpPr>
            <p:grpSpPr>
              <a:xfrm>
                <a:off x="4651058" y="3449688"/>
                <a:ext cx="2896642" cy="426541"/>
                <a:chOff x="4651058" y="3449688"/>
                <a:chExt cx="2896642" cy="426541"/>
              </a:xfrm>
            </p:grpSpPr>
            <p:pic>
              <p:nvPicPr>
                <p:cNvPr id="17" name="Image 15" descr="preencoded.png"/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651058" y="3497313"/>
                  <a:ext cx="238125" cy="190500"/>
                </a:xfrm>
                <a:prstGeom prst="rect">
                  <a:avLst/>
                </a:prstGeom>
              </p:spPr>
            </p:pic>
            <p:sp>
              <p:nvSpPr>
                <p:cNvPr id="48" name="Text 13"/>
                <p:cNvSpPr/>
                <p:nvPr/>
              </p:nvSpPr>
              <p:spPr>
                <a:xfrm>
                  <a:off x="4993958" y="3449688"/>
                  <a:ext cx="2553742" cy="426541"/>
                </a:xfrm>
                <a:prstGeom prst="rect">
                  <a:avLst/>
                </a:prstGeom>
                <a:noFill/>
                <a:ln/>
              </p:spPr>
              <p:txBody>
                <a:bodyPr vert="horz" wrap="square" lIns="0" tIns="0" rIns="0" bIns="0" rtlCol="0" anchor="t"/>
                <a:lstStyle/>
                <a:p>
                  <a:pPr marL="0" indent="0">
                    <a:lnSpc>
                      <a:spcPts val="1680"/>
                    </a:lnSpc>
                    <a:buNone/>
                  </a:pPr>
                  <a:r>
                    <a:rPr lang="en-US" sz="1200" dirty="0">
                      <a:solidFill>
                        <a:srgbClr val="2D3748"/>
                      </a:solidFill>
                      <a:latin typeface="DM Sans" pitchFamily="34" charset="0"/>
                      <a:ea typeface="DM Sans" pitchFamily="34" charset="-122"/>
                      <a:cs typeface="DM Sans" pitchFamily="34" charset="-120"/>
                    </a:rPr>
                    <a:t>類神經網路（ANN）捕捉數據非線性關係，預測離職風險</a:t>
                  </a:r>
                  <a:endParaRPr lang="en-US" sz="1200" dirty="0"/>
                </a:p>
              </p:txBody>
            </p:sp>
          </p:grp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F6C07524-D96A-8B3C-17DC-CCB1F1988AF9}"/>
                  </a:ext>
                </a:extLst>
              </p:cNvPr>
              <p:cNvGrpSpPr/>
              <p:nvPr/>
            </p:nvGrpSpPr>
            <p:grpSpPr>
              <a:xfrm>
                <a:off x="4679633" y="3990529"/>
                <a:ext cx="3378815" cy="238125"/>
                <a:chOff x="4679633" y="3990529"/>
                <a:chExt cx="3378815" cy="238125"/>
              </a:xfrm>
            </p:grpSpPr>
            <p:pic>
              <p:nvPicPr>
                <p:cNvPr id="18" name="Image 16" descr="preencoded.png"/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679633" y="4038154"/>
                  <a:ext cx="171450" cy="190500"/>
                </a:xfrm>
                <a:prstGeom prst="rect">
                  <a:avLst/>
                </a:prstGeom>
              </p:spPr>
            </p:pic>
            <p:sp>
              <p:nvSpPr>
                <p:cNvPr id="49" name="Text 14"/>
                <p:cNvSpPr/>
                <p:nvPr/>
              </p:nvSpPr>
              <p:spPr>
                <a:xfrm>
                  <a:off x="4993958" y="3990529"/>
                  <a:ext cx="3064490" cy="213271"/>
                </a:xfrm>
                <a:prstGeom prst="rect">
                  <a:avLst/>
                </a:prstGeom>
                <a:noFill/>
                <a:ln/>
              </p:spPr>
              <p:txBody>
                <a:bodyPr vert="horz" wrap="square" lIns="0" tIns="0" rIns="0" bIns="0" rtlCol="0" anchor="t"/>
                <a:lstStyle/>
                <a:p>
                  <a:pPr marL="0" indent="0">
                    <a:lnSpc>
                      <a:spcPts val="1680"/>
                    </a:lnSpc>
                    <a:buNone/>
                  </a:pPr>
                  <a:r>
                    <a:rPr lang="en-US" sz="1200" dirty="0">
                      <a:solidFill>
                        <a:srgbClr val="2D3748"/>
                      </a:solidFill>
                      <a:latin typeface="DM Sans" pitchFamily="34" charset="0"/>
                      <a:ea typeface="DM Sans" pitchFamily="34" charset="-122"/>
                      <a:cs typeface="DM Sans" pitchFamily="34" charset="-120"/>
                    </a:rPr>
                    <a:t>多目標決策分析（TOPSIS）整合評分</a:t>
                  </a:r>
                  <a:endParaRPr lang="en-US" sz="1200" dirty="0"/>
                </a:p>
              </p:txBody>
            </p:sp>
          </p:grp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1D26D3B0-8A82-35C7-19AA-E0C835F0B6E9}"/>
                  </a:ext>
                </a:extLst>
              </p:cNvPr>
              <p:cNvGrpSpPr/>
              <p:nvPr/>
            </p:nvGrpSpPr>
            <p:grpSpPr>
              <a:xfrm>
                <a:off x="4651058" y="4390579"/>
                <a:ext cx="3407390" cy="238125"/>
                <a:chOff x="4651058" y="4390579"/>
                <a:chExt cx="3407390" cy="238125"/>
              </a:xfrm>
            </p:grpSpPr>
            <p:pic>
              <p:nvPicPr>
                <p:cNvPr id="19" name="Image 17" descr="preencoded.png"/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651058" y="4438204"/>
                  <a:ext cx="238125" cy="190500"/>
                </a:xfrm>
                <a:prstGeom prst="rect">
                  <a:avLst/>
                </a:prstGeom>
              </p:spPr>
            </p:pic>
            <p:sp>
              <p:nvSpPr>
                <p:cNvPr id="50" name="Text 15"/>
                <p:cNvSpPr/>
                <p:nvPr/>
              </p:nvSpPr>
              <p:spPr>
                <a:xfrm>
                  <a:off x="4993958" y="4390579"/>
                  <a:ext cx="3064490" cy="213271"/>
                </a:xfrm>
                <a:prstGeom prst="rect">
                  <a:avLst/>
                </a:prstGeom>
                <a:noFill/>
                <a:ln/>
              </p:spPr>
              <p:txBody>
                <a:bodyPr vert="horz" wrap="square" lIns="0" tIns="0" rIns="0" bIns="0" rtlCol="0" anchor="t"/>
                <a:lstStyle/>
                <a:p>
                  <a:pPr marL="0" indent="0">
                    <a:lnSpc>
                      <a:spcPts val="1680"/>
                    </a:lnSpc>
                    <a:buNone/>
                  </a:pPr>
                  <a:r>
                    <a:rPr lang="en-US" sz="1200" dirty="0">
                      <a:solidFill>
                        <a:srgbClr val="2D3748"/>
                      </a:solidFill>
                      <a:latin typeface="DM Sans" pitchFamily="34" charset="0"/>
                      <a:ea typeface="DM Sans" pitchFamily="34" charset="-122"/>
                      <a:cs typeface="DM Sans" pitchFamily="34" charset="-120"/>
                    </a:rPr>
                    <a:t>持續優化模型效能與準確度</a:t>
                  </a:r>
                  <a:endParaRPr lang="en-US" sz="1200" dirty="0"/>
                </a:p>
              </p:txBody>
            </p:sp>
          </p:grpSp>
        </p:grpSp>
      </p:grpSp>
      <p:sp>
        <p:nvSpPr>
          <p:cNvPr id="53" name="Text 18"/>
          <p:cNvSpPr/>
          <p:nvPr/>
        </p:nvSpPr>
        <p:spPr>
          <a:xfrm>
            <a:off x="8401348" y="1699171"/>
            <a:ext cx="289649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4A90A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系統功能規劃</a:t>
            </a:r>
            <a:endParaRPr lang="en-US" sz="1800" dirty="0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0B72DCA-0B25-6A33-88BD-79F4FB3C4C79}"/>
              </a:ext>
            </a:extLst>
          </p:cNvPr>
          <p:cNvGrpSpPr/>
          <p:nvPr/>
        </p:nvGrpSpPr>
        <p:grpSpPr>
          <a:xfrm>
            <a:off x="1125928" y="5026670"/>
            <a:ext cx="2896493" cy="1047559"/>
            <a:chOff x="1125928" y="5026670"/>
            <a:chExt cx="2896493" cy="1047559"/>
          </a:xfrm>
        </p:grpSpPr>
        <p:sp>
          <p:nvSpPr>
            <p:cNvPr id="72" name="Rounded Rectangle 71">
              <a:extLst>
                <a:ext uri="{FF2B5EF4-FFF2-40B4-BE49-F238E27FC236}">
                  <a16:creationId xmlns:a16="http://schemas.microsoft.com/office/drawing/2014/main" id="{7C48EFB4-2A7C-D8C4-D3F5-224BBE2D4F35}"/>
                </a:ext>
              </a:extLst>
            </p:cNvPr>
            <p:cNvSpPr/>
            <p:nvPr/>
          </p:nvSpPr>
          <p:spPr>
            <a:xfrm>
              <a:off x="1125928" y="5026670"/>
              <a:ext cx="2896493" cy="1047559"/>
            </a:xfrm>
            <a:prstGeom prst="roundRect">
              <a:avLst/>
            </a:prstGeom>
            <a:solidFill>
              <a:srgbClr val="4B90A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7C30E1D-D4C8-20D6-C54C-E7951E49CF99}"/>
                </a:ext>
              </a:extLst>
            </p:cNvPr>
            <p:cNvSpPr txBox="1"/>
            <p:nvPr/>
          </p:nvSpPr>
          <p:spPr>
            <a:xfrm>
              <a:off x="1240228" y="5147697"/>
              <a:ext cx="25588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TW" sz="1400" dirty="0">
                  <a:solidFill>
                    <a:schemeClr val="bg1"/>
                  </a:solidFill>
                </a:rPr>
                <a:t>Python</a:t>
              </a:r>
              <a:r>
                <a:rPr lang="zh-TW" altLang="en-US" sz="1400" dirty="0">
                  <a:solidFill>
                    <a:schemeClr val="bg1"/>
                  </a:solidFill>
                </a:rPr>
                <a:t> </a:t>
              </a:r>
              <a:r>
                <a:rPr lang="en-US" altLang="zh-TW" sz="1400" dirty="0">
                  <a:solidFill>
                    <a:schemeClr val="bg1"/>
                  </a:solidFill>
                </a:rPr>
                <a:t>Selenium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TW" sz="1400" dirty="0">
                  <a:solidFill>
                    <a:schemeClr val="bg1"/>
                  </a:solidFill>
                </a:rPr>
                <a:t>Python </a:t>
              </a:r>
              <a:r>
                <a:rPr lang="en-US" sz="1400" dirty="0">
                  <a:solidFill>
                    <a:schemeClr val="bg1"/>
                  </a:solidFill>
                </a:rPr>
                <a:t>Pandas / NumPy</a:t>
              </a:r>
              <a:endParaRPr lang="en-TW" sz="1400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TW" sz="1400" dirty="0">
                  <a:solidFill>
                    <a:schemeClr val="bg1"/>
                  </a:solidFill>
                </a:rPr>
                <a:t>SQL Database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6F860A6C-7F21-DD90-60A7-B8A9780082B2}"/>
              </a:ext>
            </a:extLst>
          </p:cNvPr>
          <p:cNvGrpSpPr/>
          <p:nvPr/>
        </p:nvGrpSpPr>
        <p:grpSpPr>
          <a:xfrm>
            <a:off x="4664963" y="5026670"/>
            <a:ext cx="2896493" cy="1231433"/>
            <a:chOff x="1125928" y="5026670"/>
            <a:chExt cx="2896493" cy="1231433"/>
          </a:xfrm>
        </p:grpSpPr>
        <p:sp>
          <p:nvSpPr>
            <p:cNvPr id="76" name="Rounded Rectangle 75">
              <a:extLst>
                <a:ext uri="{FF2B5EF4-FFF2-40B4-BE49-F238E27FC236}">
                  <a16:creationId xmlns:a16="http://schemas.microsoft.com/office/drawing/2014/main" id="{E9A5AAC9-9BC6-15B5-4C7E-0C291809D00D}"/>
                </a:ext>
              </a:extLst>
            </p:cNvPr>
            <p:cNvSpPr/>
            <p:nvPr/>
          </p:nvSpPr>
          <p:spPr>
            <a:xfrm>
              <a:off x="1125928" y="5026670"/>
              <a:ext cx="2896493" cy="1047559"/>
            </a:xfrm>
            <a:prstGeom prst="roundRect">
              <a:avLst/>
            </a:prstGeom>
            <a:solidFill>
              <a:srgbClr val="4B90A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 dirty="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2B21F1E-D3E8-A4EF-7D09-8F349EB63642}"/>
                </a:ext>
              </a:extLst>
            </p:cNvPr>
            <p:cNvSpPr txBox="1"/>
            <p:nvPr/>
          </p:nvSpPr>
          <p:spPr>
            <a:xfrm>
              <a:off x="1240228" y="5088552"/>
              <a:ext cx="2558886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</a:rPr>
                <a:t>Python </a:t>
              </a:r>
              <a:r>
                <a:rPr lang="en-US" sz="1400" dirty="0" err="1">
                  <a:solidFill>
                    <a:schemeClr val="bg1"/>
                  </a:solidFill>
                </a:rPr>
                <a:t>Jieba</a:t>
              </a:r>
              <a:r>
                <a:rPr lang="en-US" sz="1400" dirty="0">
                  <a:solidFill>
                    <a:schemeClr val="bg1"/>
                  </a:solidFill>
                </a:rPr>
                <a:t>, </a:t>
              </a:r>
              <a:r>
                <a:rPr lang="en-US" sz="1400" dirty="0" err="1">
                  <a:solidFill>
                    <a:schemeClr val="bg1"/>
                  </a:solidFill>
                </a:rPr>
                <a:t>SpaCy</a:t>
              </a:r>
              <a:r>
                <a:rPr lang="en-US" sz="1400" dirty="0">
                  <a:solidFill>
                    <a:schemeClr val="bg1"/>
                  </a:solidFill>
                </a:rPr>
                <a:t> (NLP)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</a:rPr>
                <a:t>Python Scikit-learn, TensorFlow/</a:t>
              </a:r>
              <a:r>
                <a:rPr lang="en-US" sz="1400" dirty="0" err="1">
                  <a:solidFill>
                    <a:schemeClr val="bg1"/>
                  </a:solidFill>
                </a:rPr>
                <a:t>PyTorch</a:t>
              </a:r>
              <a:r>
                <a:rPr lang="en-US" sz="1400" dirty="0">
                  <a:solidFill>
                    <a:schemeClr val="bg1"/>
                  </a:solidFill>
                </a:rPr>
                <a:t> (LSTM, ANN, Random Forest)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TW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546317D-A5D6-7C96-7517-89C335BCC0C1}"/>
              </a:ext>
            </a:extLst>
          </p:cNvPr>
          <p:cNvGrpSpPr/>
          <p:nvPr/>
        </p:nvGrpSpPr>
        <p:grpSpPr>
          <a:xfrm>
            <a:off x="8129503" y="5026670"/>
            <a:ext cx="2896493" cy="1047559"/>
            <a:chOff x="1125928" y="5026670"/>
            <a:chExt cx="2896493" cy="1047559"/>
          </a:xfrm>
        </p:grpSpPr>
        <p:sp>
          <p:nvSpPr>
            <p:cNvPr id="81" name="Rounded Rectangle 80">
              <a:extLst>
                <a:ext uri="{FF2B5EF4-FFF2-40B4-BE49-F238E27FC236}">
                  <a16:creationId xmlns:a16="http://schemas.microsoft.com/office/drawing/2014/main" id="{2E0EA00E-D1BD-3012-9BB0-41EE797A8392}"/>
                </a:ext>
              </a:extLst>
            </p:cNvPr>
            <p:cNvSpPr/>
            <p:nvPr/>
          </p:nvSpPr>
          <p:spPr>
            <a:xfrm>
              <a:off x="1125928" y="5026670"/>
              <a:ext cx="2896493" cy="1047559"/>
            </a:xfrm>
            <a:prstGeom prst="roundRect">
              <a:avLst/>
            </a:prstGeom>
            <a:solidFill>
              <a:srgbClr val="4B90A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359C76F3-7EE2-DCB1-02F1-A2BD820C4D2E}"/>
                </a:ext>
              </a:extLst>
            </p:cNvPr>
            <p:cNvSpPr txBox="1"/>
            <p:nvPr/>
          </p:nvSpPr>
          <p:spPr>
            <a:xfrm>
              <a:off x="1294731" y="5083016"/>
              <a:ext cx="2558886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</a:rPr>
                <a:t>JavaScript / HTML / CSS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TW" sz="1400" dirty="0">
                  <a:solidFill>
                    <a:schemeClr val="bg1"/>
                  </a:solidFill>
                </a:rPr>
                <a:t>React (網頁互動)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TW" sz="1400" dirty="0">
                  <a:solidFill>
                    <a:schemeClr val="bg1"/>
                  </a:solidFill>
                </a:rPr>
                <a:t>Python Django (後端)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TW" sz="1400" dirty="0">
                  <a:solidFill>
                    <a:schemeClr val="bg1"/>
                  </a:solidFill>
                </a:rPr>
                <a:t>AWS/Google/Azure (上架)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BBDD75A-AFC5-F0B4-0FEF-C2DC93E9A88A}"/>
              </a:ext>
            </a:extLst>
          </p:cNvPr>
          <p:cNvGrpSpPr/>
          <p:nvPr/>
        </p:nvGrpSpPr>
        <p:grpSpPr>
          <a:xfrm>
            <a:off x="8133890" y="2213794"/>
            <a:ext cx="3431407" cy="2243185"/>
            <a:chOff x="8133890" y="2290269"/>
            <a:chExt cx="3431407" cy="2243185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DC45498F-6588-7887-0C68-DD8531C0F6B0}"/>
                </a:ext>
              </a:extLst>
            </p:cNvPr>
            <p:cNvGrpSpPr/>
            <p:nvPr/>
          </p:nvGrpSpPr>
          <p:grpSpPr>
            <a:xfrm>
              <a:off x="8133890" y="2691408"/>
              <a:ext cx="3431407" cy="1842046"/>
              <a:chOff x="8129503" y="2383599"/>
              <a:chExt cx="3431407" cy="1842046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AAA75B15-0B32-C0EE-2A39-E940F49E6C3A}"/>
                  </a:ext>
                </a:extLst>
              </p:cNvPr>
              <p:cNvGrpSpPr/>
              <p:nvPr/>
            </p:nvGrpSpPr>
            <p:grpSpPr>
              <a:xfrm>
                <a:off x="8153698" y="2383599"/>
                <a:ext cx="3407212" cy="238125"/>
                <a:chOff x="8153698" y="2364134"/>
                <a:chExt cx="3407212" cy="238125"/>
              </a:xfrm>
            </p:grpSpPr>
            <p:pic>
              <p:nvPicPr>
                <p:cNvPr id="25" name="Image 23" descr="preencoded.png"/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153698" y="2411759"/>
                  <a:ext cx="238125" cy="190500"/>
                </a:xfrm>
                <a:prstGeom prst="rect">
                  <a:avLst/>
                </a:prstGeom>
              </p:spPr>
            </p:pic>
            <p:sp>
              <p:nvSpPr>
                <p:cNvPr id="54" name="Text 19"/>
                <p:cNvSpPr/>
                <p:nvPr/>
              </p:nvSpPr>
              <p:spPr>
                <a:xfrm>
                  <a:off x="8496598" y="2364134"/>
                  <a:ext cx="3064312" cy="213271"/>
                </a:xfrm>
                <a:prstGeom prst="rect">
                  <a:avLst/>
                </a:prstGeom>
                <a:noFill/>
                <a:ln/>
              </p:spPr>
              <p:txBody>
                <a:bodyPr vert="horz" wrap="square" lIns="0" tIns="0" rIns="0" bIns="0" rtlCol="0" anchor="t"/>
                <a:lstStyle/>
                <a:p>
                  <a:pPr marL="0" indent="0">
                    <a:lnSpc>
                      <a:spcPts val="1680"/>
                    </a:lnSpc>
                    <a:buNone/>
                  </a:pPr>
                  <a:r>
                    <a:rPr lang="en-US" sz="1200" dirty="0">
                      <a:solidFill>
                        <a:srgbClr val="2D3748"/>
                      </a:solidFill>
                      <a:latin typeface="DM Sans" pitchFamily="34" charset="0"/>
                      <a:ea typeface="DM Sans" pitchFamily="34" charset="-122"/>
                      <a:cs typeface="DM Sans" pitchFamily="34" charset="-120"/>
                    </a:rPr>
                    <a:t>個人市場價值定位與薪資評估</a:t>
                  </a:r>
                  <a:endParaRPr lang="en-US" sz="1200" dirty="0"/>
                </a:p>
              </p:txBody>
            </p:sp>
          </p:grp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9F7256EC-E684-D9A6-8E1F-21FF3C539414}"/>
                  </a:ext>
                </a:extLst>
              </p:cNvPr>
              <p:cNvGrpSpPr/>
              <p:nvPr/>
            </p:nvGrpSpPr>
            <p:grpSpPr>
              <a:xfrm>
                <a:off x="8153698" y="2783649"/>
                <a:ext cx="3407212" cy="238125"/>
                <a:chOff x="8153698" y="2764184"/>
                <a:chExt cx="3407212" cy="238125"/>
              </a:xfrm>
            </p:grpSpPr>
            <p:pic>
              <p:nvPicPr>
                <p:cNvPr id="26" name="Image 24" descr="preencoded.png"/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153698" y="2811809"/>
                  <a:ext cx="238125" cy="190500"/>
                </a:xfrm>
                <a:prstGeom prst="rect">
                  <a:avLst/>
                </a:prstGeom>
              </p:spPr>
            </p:pic>
            <p:sp>
              <p:nvSpPr>
                <p:cNvPr id="55" name="Text 20"/>
                <p:cNvSpPr/>
                <p:nvPr/>
              </p:nvSpPr>
              <p:spPr>
                <a:xfrm>
                  <a:off x="8496598" y="2764184"/>
                  <a:ext cx="3064312" cy="213271"/>
                </a:xfrm>
                <a:prstGeom prst="rect">
                  <a:avLst/>
                </a:prstGeom>
                <a:noFill/>
                <a:ln/>
              </p:spPr>
              <p:txBody>
                <a:bodyPr vert="horz" wrap="square" lIns="0" tIns="0" rIns="0" bIns="0" rtlCol="0" anchor="t"/>
                <a:lstStyle/>
                <a:p>
                  <a:pPr marL="0" indent="0">
                    <a:lnSpc>
                      <a:spcPts val="1680"/>
                    </a:lnSpc>
                    <a:buNone/>
                  </a:pPr>
                  <a:r>
                    <a:rPr lang="en-US" sz="1200" dirty="0">
                      <a:solidFill>
                        <a:srgbClr val="2D3748"/>
                      </a:solidFill>
                      <a:latin typeface="DM Sans" pitchFamily="34" charset="0"/>
                      <a:ea typeface="DM Sans" pitchFamily="34" charset="-122"/>
                      <a:cs typeface="DM Sans" pitchFamily="34" charset="-120"/>
                    </a:rPr>
                    <a:t>工作生活平衡（WLB）評估指數</a:t>
                  </a:r>
                  <a:endParaRPr lang="en-US" sz="1200" dirty="0"/>
                </a:p>
              </p:txBody>
            </p:sp>
          </p:grp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2175949A-DF30-DB39-CF0A-544C86ACD0C9}"/>
                  </a:ext>
                </a:extLst>
              </p:cNvPr>
              <p:cNvGrpSpPr/>
              <p:nvPr/>
            </p:nvGrpSpPr>
            <p:grpSpPr>
              <a:xfrm>
                <a:off x="8172748" y="3183699"/>
                <a:ext cx="3388162" cy="238125"/>
                <a:chOff x="8172748" y="3164234"/>
                <a:chExt cx="3388162" cy="238125"/>
              </a:xfrm>
            </p:grpSpPr>
            <p:pic>
              <p:nvPicPr>
                <p:cNvPr id="27" name="Image 25" descr="preencoded.png"/>
                <p:cNvPicPr>
                  <a:picLocks noChangeAspect="1"/>
                </p:cNvPicPr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172748" y="3211859"/>
                  <a:ext cx="190500" cy="190500"/>
                </a:xfrm>
                <a:prstGeom prst="rect">
                  <a:avLst/>
                </a:prstGeom>
              </p:spPr>
            </p:pic>
            <p:sp>
              <p:nvSpPr>
                <p:cNvPr id="56" name="Text 21"/>
                <p:cNvSpPr/>
                <p:nvPr/>
              </p:nvSpPr>
              <p:spPr>
                <a:xfrm>
                  <a:off x="8496598" y="3164234"/>
                  <a:ext cx="3064312" cy="213271"/>
                </a:xfrm>
                <a:prstGeom prst="rect">
                  <a:avLst/>
                </a:prstGeom>
                <a:noFill/>
                <a:ln/>
              </p:spPr>
              <p:txBody>
                <a:bodyPr vert="horz" wrap="square" lIns="0" tIns="0" rIns="0" bIns="0" rtlCol="0" anchor="t"/>
                <a:lstStyle/>
                <a:p>
                  <a:pPr marL="0" indent="0">
                    <a:lnSpc>
                      <a:spcPts val="1680"/>
                    </a:lnSpc>
                    <a:buNone/>
                  </a:pPr>
                  <a:r>
                    <a:rPr lang="en-US" sz="1200" dirty="0">
                      <a:solidFill>
                        <a:srgbClr val="2D3748"/>
                      </a:solidFill>
                      <a:latin typeface="DM Sans" pitchFamily="34" charset="0"/>
                      <a:ea typeface="DM Sans" pitchFamily="34" charset="-122"/>
                      <a:cs typeface="DM Sans" pitchFamily="34" charset="-120"/>
                    </a:rPr>
                    <a:t>職涯發展路徑與成長建議</a:t>
                  </a:r>
                  <a:endParaRPr lang="en-US" sz="1200" dirty="0"/>
                </a:p>
              </p:txBody>
            </p:sp>
          </p:grp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FB041B6F-626C-98F0-2A3D-8C45186010B3}"/>
                  </a:ext>
                </a:extLst>
              </p:cNvPr>
              <p:cNvGrpSpPr/>
              <p:nvPr/>
            </p:nvGrpSpPr>
            <p:grpSpPr>
              <a:xfrm>
                <a:off x="8153698" y="3583749"/>
                <a:ext cx="3407212" cy="238125"/>
                <a:chOff x="8153698" y="3564284"/>
                <a:chExt cx="3407212" cy="238125"/>
              </a:xfrm>
            </p:grpSpPr>
            <p:pic>
              <p:nvPicPr>
                <p:cNvPr id="28" name="Image 26" descr="preencoded.png"/>
                <p:cNvPicPr>
                  <a:picLocks noChangeAspect="1"/>
                </p:cNvPicPr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153698" y="3611909"/>
                  <a:ext cx="238125" cy="190500"/>
                </a:xfrm>
                <a:prstGeom prst="rect">
                  <a:avLst/>
                </a:prstGeom>
              </p:spPr>
            </p:pic>
            <p:sp>
              <p:nvSpPr>
                <p:cNvPr id="57" name="Text 22"/>
                <p:cNvSpPr/>
                <p:nvPr/>
              </p:nvSpPr>
              <p:spPr>
                <a:xfrm>
                  <a:off x="8496598" y="3564284"/>
                  <a:ext cx="3064312" cy="213271"/>
                </a:xfrm>
                <a:prstGeom prst="rect">
                  <a:avLst/>
                </a:prstGeom>
                <a:noFill/>
                <a:ln/>
              </p:spPr>
              <p:txBody>
                <a:bodyPr vert="horz" wrap="square" lIns="0" tIns="0" rIns="0" bIns="0" rtlCol="0" anchor="t"/>
                <a:lstStyle/>
                <a:p>
                  <a:pPr marL="0" indent="0">
                    <a:lnSpc>
                      <a:spcPts val="1680"/>
                    </a:lnSpc>
                    <a:buNone/>
                  </a:pPr>
                  <a:r>
                    <a:rPr lang="en-US" sz="1200" dirty="0">
                      <a:solidFill>
                        <a:srgbClr val="2D3748"/>
                      </a:solidFill>
                      <a:latin typeface="DM Sans" pitchFamily="34" charset="0"/>
                      <a:ea typeface="DM Sans" pitchFamily="34" charset="-122"/>
                      <a:cs typeface="DM Sans" pitchFamily="34" charset="-120"/>
                    </a:rPr>
                    <a:t>企業人才策略與薪酬優化建議</a:t>
                  </a:r>
                  <a:endParaRPr lang="en-US" sz="1200" dirty="0"/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497836D1-AF71-D62D-C227-4035255585D4}"/>
                  </a:ext>
                </a:extLst>
              </p:cNvPr>
              <p:cNvGrpSpPr/>
              <p:nvPr/>
            </p:nvGrpSpPr>
            <p:grpSpPr>
              <a:xfrm>
                <a:off x="8129503" y="3983799"/>
                <a:ext cx="3431407" cy="241846"/>
                <a:chOff x="8129503" y="3964334"/>
                <a:chExt cx="3431407" cy="241846"/>
              </a:xfrm>
            </p:grpSpPr>
            <p:pic>
              <p:nvPicPr>
                <p:cNvPr id="29" name="Image 27" descr="preencoded.png"/>
                <p:cNvPicPr>
                  <a:picLocks noChangeAspect="1"/>
                </p:cNvPicPr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129503" y="4015680"/>
                  <a:ext cx="190500" cy="190500"/>
                </a:xfrm>
                <a:prstGeom prst="rect">
                  <a:avLst/>
                </a:prstGeom>
              </p:spPr>
            </p:pic>
            <p:sp>
              <p:nvSpPr>
                <p:cNvPr id="58" name="Text 23"/>
                <p:cNvSpPr/>
                <p:nvPr/>
              </p:nvSpPr>
              <p:spPr>
                <a:xfrm>
                  <a:off x="8496598" y="3964334"/>
                  <a:ext cx="3064312" cy="213271"/>
                </a:xfrm>
                <a:prstGeom prst="rect">
                  <a:avLst/>
                </a:prstGeom>
                <a:noFill/>
                <a:ln/>
              </p:spPr>
              <p:txBody>
                <a:bodyPr vert="horz" wrap="square" lIns="0" tIns="0" rIns="0" bIns="0" rtlCol="0" anchor="t"/>
                <a:lstStyle/>
                <a:p>
                  <a:pPr marL="0" indent="0">
                    <a:lnSpc>
                      <a:spcPts val="1680"/>
                    </a:lnSpc>
                    <a:buNone/>
                  </a:pPr>
                  <a:r>
                    <a:rPr lang="en-US" sz="1200" dirty="0">
                      <a:solidFill>
                        <a:srgbClr val="2D3748"/>
                      </a:solidFill>
                      <a:latin typeface="DM Sans" pitchFamily="34" charset="0"/>
                      <a:ea typeface="DM Sans" pitchFamily="34" charset="-122"/>
                      <a:cs typeface="DM Sans" pitchFamily="34" charset="-120"/>
                    </a:rPr>
                    <a:t>員工離職風險預警系統</a:t>
                  </a:r>
                  <a:endParaRPr lang="en-US" sz="1200" dirty="0"/>
                </a:p>
              </p:txBody>
            </p:sp>
          </p:grp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C4E351D9-7714-4A74-32AC-CE2B283C48BF}"/>
                </a:ext>
              </a:extLst>
            </p:cNvPr>
            <p:cNvGrpSpPr/>
            <p:nvPr/>
          </p:nvGrpSpPr>
          <p:grpSpPr>
            <a:xfrm>
              <a:off x="8165491" y="2290269"/>
              <a:ext cx="2889087" cy="426541"/>
              <a:chOff x="8165491" y="2290269"/>
              <a:chExt cx="2889087" cy="426541"/>
            </a:xfrm>
          </p:grpSpPr>
          <p:pic>
            <p:nvPicPr>
              <p:cNvPr id="84" name="Image 4" descr="preencoded.png">
                <a:extLst>
                  <a:ext uri="{FF2B5EF4-FFF2-40B4-BE49-F238E27FC236}">
                    <a16:creationId xmlns:a16="http://schemas.microsoft.com/office/drawing/2014/main" id="{13B9F821-E384-71E1-E549-57D98E89D2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65491" y="2331542"/>
                <a:ext cx="190500" cy="190500"/>
              </a:xfrm>
              <a:prstGeom prst="rect">
                <a:avLst/>
              </a:prstGeom>
            </p:spPr>
          </p:pic>
          <p:sp>
            <p:nvSpPr>
              <p:cNvPr id="85" name="Text 3">
                <a:extLst>
                  <a:ext uri="{FF2B5EF4-FFF2-40B4-BE49-F238E27FC236}">
                    <a16:creationId xmlns:a16="http://schemas.microsoft.com/office/drawing/2014/main" id="{A9406521-7F44-2ABB-AF5A-1E507FEE8969}"/>
                  </a:ext>
                </a:extLst>
              </p:cNvPr>
              <p:cNvSpPr/>
              <p:nvPr/>
            </p:nvSpPr>
            <p:spPr>
              <a:xfrm>
                <a:off x="8500985" y="2290269"/>
                <a:ext cx="2553593" cy="426541"/>
              </a:xfrm>
              <a:prstGeom prst="rect">
                <a:avLst/>
              </a:prstGeom>
              <a:noFill/>
              <a:ln/>
            </p:spPr>
            <p:txBody>
              <a:bodyPr vert="horz" wrap="square" lIns="0" tIns="0" rIns="0" bIns="0" rtlCol="0" anchor="t"/>
              <a:lstStyle/>
              <a:p>
                <a:pPr marL="0" indent="0">
                  <a:lnSpc>
                    <a:spcPts val="1680"/>
                  </a:lnSpc>
                  <a:buNone/>
                </a:pPr>
                <a:r>
                  <a:rPr lang="en-US" sz="1200" dirty="0" err="1">
                    <a:solidFill>
                      <a:srgbClr val="2D3748"/>
                    </a:solidFill>
                    <a:latin typeface="DM Sans" pitchFamily="34" charset="0"/>
                    <a:ea typeface="DM Sans" pitchFamily="34" charset="-122"/>
                    <a:cs typeface="DM Sans" pitchFamily="34" charset="-120"/>
                  </a:rPr>
                  <a:t>網頁系統提供個人與企業服務</a:t>
                </a:r>
                <a:endParaRPr lang="en-US" sz="1200" dirty="0"/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picture-search.skywork.ai/aippt/file_template/1953702771894779904/backgrounds/slide1_0d175f_df75949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863" y="11430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863" y="2209800"/>
            <a:ext cx="4317950" cy="2476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2589" y="2438400"/>
            <a:ext cx="514350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6889" y="2552700"/>
            <a:ext cx="285750" cy="342900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998E2A50-2958-7042-5909-8DA19B8319BA}"/>
              </a:ext>
            </a:extLst>
          </p:cNvPr>
          <p:cNvGrpSpPr/>
          <p:nvPr/>
        </p:nvGrpSpPr>
        <p:grpSpPr>
          <a:xfrm>
            <a:off x="5871902" y="3058885"/>
            <a:ext cx="521122" cy="664029"/>
            <a:chOff x="5984825" y="2019300"/>
            <a:chExt cx="295275" cy="381000"/>
          </a:xfrm>
        </p:grpSpPr>
        <p:pic>
          <p:nvPicPr>
            <p:cNvPr id="11" name="Image 9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984825" y="2019300"/>
              <a:ext cx="295275" cy="381000"/>
            </a:xfrm>
            <a:prstGeom prst="rect">
              <a:avLst/>
            </a:prstGeom>
          </p:spPr>
        </p:pic>
        <p:pic>
          <p:nvPicPr>
            <p:cNvPr id="12" name="Image 10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061025" y="2124075"/>
              <a:ext cx="142875" cy="152400"/>
            </a:xfrm>
            <a:prstGeom prst="rect">
              <a:avLst/>
            </a:prstGeom>
          </p:spPr>
        </p:pic>
      </p:grpSp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96113" y="2209800"/>
            <a:ext cx="4317950" cy="2476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16888" y="2438400"/>
            <a:ext cx="476250" cy="571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31188" y="2552700"/>
            <a:ext cx="247650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24713" y="35814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24713" y="39243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24713" y="42672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0863" y="4991100"/>
            <a:ext cx="10363200" cy="1295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1363" y="56007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84863" y="5600700"/>
            <a:ext cx="152400" cy="1524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950863" y="685800"/>
            <a:ext cx="10363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4100" b="1" dirty="0">
                <a:solidFill>
                  <a:srgbClr val="4A90A4"/>
                </a:solidFill>
                <a:ea typeface="DM Sans" pitchFamily="34" charset="-122"/>
                <a:cs typeface="DM Sans" pitchFamily="34" charset="-120"/>
              </a:rPr>
              <a:t>AI核心技術與深度學習模型</a:t>
            </a:r>
            <a:endParaRPr lang="en-US" sz="4100" dirty="0"/>
          </a:p>
        </p:txBody>
      </p:sp>
      <p:sp>
        <p:nvSpPr>
          <p:cNvPr id="23" name="Text 1"/>
          <p:cNvSpPr/>
          <p:nvPr/>
        </p:nvSpPr>
        <p:spPr>
          <a:xfrm>
            <a:off x="950863" y="1714500"/>
            <a:ext cx="124358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採用混合深度學習模型，結合不同模型優勢，提高薪資預測準確性與穩健性</a:t>
            </a:r>
            <a:r>
              <a:rPr lang="en-US" sz="13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：</a:t>
            </a:r>
            <a:endParaRPr lang="en-US" sz="1350" dirty="0"/>
          </a:p>
        </p:txBody>
      </p:sp>
      <p:sp>
        <p:nvSpPr>
          <p:cNvPr id="24" name="Text 2"/>
          <p:cNvSpPr/>
          <p:nvPr/>
        </p:nvSpPr>
        <p:spPr>
          <a:xfrm>
            <a:off x="2033736" y="3124200"/>
            <a:ext cx="258246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長短期記憶網絡 (LSTM)</a:t>
            </a:r>
            <a:endParaRPr lang="en-US" sz="150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7007B09-48CA-4C22-2D62-1D836B00FFBC}"/>
              </a:ext>
            </a:extLst>
          </p:cNvPr>
          <p:cNvGrpSpPr/>
          <p:nvPr/>
        </p:nvGrpSpPr>
        <p:grpSpPr>
          <a:xfrm>
            <a:off x="1179463" y="3404235"/>
            <a:ext cx="4069080" cy="228600"/>
            <a:chOff x="1179463" y="3543300"/>
            <a:chExt cx="4069080" cy="228600"/>
          </a:xfrm>
        </p:grpSpPr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79463" y="3581400"/>
              <a:ext cx="152400" cy="152400"/>
            </a:xfrm>
            <a:prstGeom prst="rect">
              <a:avLst/>
            </a:prstGeom>
          </p:spPr>
        </p:pic>
        <p:sp>
          <p:nvSpPr>
            <p:cNvPr id="25" name="Text 3"/>
            <p:cNvSpPr/>
            <p:nvPr/>
          </p:nvSpPr>
          <p:spPr>
            <a:xfrm>
              <a:off x="1408063" y="3543300"/>
              <a:ext cx="384048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>
                <a:lnSpc>
                  <a:spcPts val="1800"/>
                </a:lnSpc>
              </a:pPr>
              <a:r>
                <a:rPr lang="en-US" sz="1200" dirty="0" err="1">
                  <a:solidFill>
                    <a:srgbClr val="00000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專門處理時間序列數據，擅長捕捉長期依賴關係</a:t>
              </a:r>
              <a:br>
                <a:rPr lang="en-US" sz="1200" dirty="0">
                  <a:solidFill>
                    <a:srgbClr val="00000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</a:br>
              <a:r>
                <a:rPr lang="zh-TW" altLang="en-US" sz="1200" dirty="0">
                  <a:solidFill>
                    <a:srgbClr val="00000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例如：薪資成長歷史、某行業薪資的年度變動）</a:t>
              </a:r>
              <a:endParaRPr lang="en-US" sz="12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5C4E07C-656F-70C2-AFC0-59113840D4E0}"/>
              </a:ext>
            </a:extLst>
          </p:cNvPr>
          <p:cNvGrpSpPr/>
          <p:nvPr/>
        </p:nvGrpSpPr>
        <p:grpSpPr>
          <a:xfrm>
            <a:off x="1179463" y="3937635"/>
            <a:ext cx="2971800" cy="228600"/>
            <a:chOff x="1179463" y="3886200"/>
            <a:chExt cx="2971800" cy="228600"/>
          </a:xfrm>
        </p:grpSpPr>
        <p:pic>
          <p:nvPicPr>
            <p:cNvPr id="9" name="Image 7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79463" y="3924300"/>
              <a:ext cx="152400" cy="152400"/>
            </a:xfrm>
            <a:prstGeom prst="rect">
              <a:avLst/>
            </a:prstGeom>
          </p:spPr>
        </p:pic>
        <p:sp>
          <p:nvSpPr>
            <p:cNvPr id="26" name="Text 4"/>
            <p:cNvSpPr/>
            <p:nvPr/>
          </p:nvSpPr>
          <p:spPr>
            <a:xfrm>
              <a:off x="1408063" y="3886200"/>
              <a:ext cx="274320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分析個人職涯發展的時間序列特徵</a:t>
              </a:r>
              <a:endParaRPr lang="en-US" sz="120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1507C84-4E46-DFB8-38E9-0A83141EACF9}"/>
              </a:ext>
            </a:extLst>
          </p:cNvPr>
          <p:cNvGrpSpPr/>
          <p:nvPr/>
        </p:nvGrpSpPr>
        <p:grpSpPr>
          <a:xfrm>
            <a:off x="1179463" y="4314416"/>
            <a:ext cx="2971800" cy="228600"/>
            <a:chOff x="1179463" y="4229100"/>
            <a:chExt cx="2971800" cy="228600"/>
          </a:xfrm>
        </p:grpSpPr>
        <p:pic>
          <p:nvPicPr>
            <p:cNvPr id="10" name="Image 8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79463" y="4267200"/>
              <a:ext cx="152400" cy="152400"/>
            </a:xfrm>
            <a:prstGeom prst="rect">
              <a:avLst/>
            </a:prstGeom>
          </p:spPr>
        </p:pic>
        <p:sp>
          <p:nvSpPr>
            <p:cNvPr id="27" name="Text 5"/>
            <p:cNvSpPr/>
            <p:nvPr/>
          </p:nvSpPr>
          <p:spPr>
            <a:xfrm>
              <a:off x="1408063" y="4229100"/>
              <a:ext cx="274320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預測薪資增長趨勢與職位晉升路徑</a:t>
              </a:r>
              <a:endParaRPr lang="en-US" sz="1200" dirty="0"/>
            </a:p>
          </p:txBody>
        </p:sp>
      </p:grpSp>
      <p:sp>
        <p:nvSpPr>
          <p:cNvPr id="28" name="Text 6"/>
          <p:cNvSpPr/>
          <p:nvPr/>
        </p:nvSpPr>
        <p:spPr>
          <a:xfrm>
            <a:off x="7841903" y="3124200"/>
            <a:ext cx="315164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隨機森林 (Random Forest)</a:t>
            </a:r>
            <a:endParaRPr lang="en-US" sz="1500" dirty="0"/>
          </a:p>
        </p:txBody>
      </p:sp>
      <p:sp>
        <p:nvSpPr>
          <p:cNvPr id="29" name="Text 7"/>
          <p:cNvSpPr/>
          <p:nvPr/>
        </p:nvSpPr>
        <p:spPr>
          <a:xfrm>
            <a:off x="7453312" y="3543300"/>
            <a:ext cx="2743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集成學習方法，由多個決策樹組成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7453312" y="3886200"/>
            <a:ext cx="2743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有效處理高維度、非線性關係數據</a:t>
            </a:r>
            <a:endParaRPr lang="en-US" sz="1200" dirty="0"/>
          </a:p>
        </p:txBody>
      </p:sp>
      <p:sp>
        <p:nvSpPr>
          <p:cNvPr id="31" name="Text 9"/>
          <p:cNvSpPr/>
          <p:nvPr/>
        </p:nvSpPr>
        <p:spPr>
          <a:xfrm>
            <a:off x="7453312" y="4229100"/>
            <a:ext cx="31089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識別關鍵技能組合對薪資的非線性增益</a:t>
            </a:r>
            <a:endParaRPr lang="en-US" sz="1200" dirty="0"/>
          </a:p>
        </p:txBody>
      </p:sp>
      <p:sp>
        <p:nvSpPr>
          <p:cNvPr id="32" name="Text 10"/>
          <p:cNvSpPr/>
          <p:nvPr/>
        </p:nvSpPr>
        <p:spPr>
          <a:xfrm>
            <a:off x="1141363" y="5181600"/>
            <a:ext cx="9982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模型整合優勢</a:t>
            </a:r>
            <a:endParaRPr lang="en-US" sz="1500" dirty="0"/>
          </a:p>
        </p:txBody>
      </p:sp>
      <p:sp>
        <p:nvSpPr>
          <p:cNvPr id="33" name="Text 11"/>
          <p:cNvSpPr/>
          <p:nvPr/>
        </p:nvSpPr>
        <p:spPr>
          <a:xfrm>
            <a:off x="1369963" y="5562600"/>
            <a:ext cx="914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全面性分析</a:t>
            </a:r>
            <a:endParaRPr lang="en-US" sz="1200" dirty="0"/>
          </a:p>
        </p:txBody>
      </p:sp>
      <p:sp>
        <p:nvSpPr>
          <p:cNvPr id="34" name="Text 12"/>
          <p:cNvSpPr/>
          <p:nvPr/>
        </p:nvSpPr>
        <p:spPr>
          <a:xfrm>
            <a:off x="1141363" y="5867400"/>
            <a:ext cx="5806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結合時間序列與多維度數據，提供更完整的薪資評估</a:t>
            </a:r>
            <a:endParaRPr lang="en-US" sz="1200" dirty="0"/>
          </a:p>
        </p:txBody>
      </p:sp>
      <p:sp>
        <p:nvSpPr>
          <p:cNvPr id="35" name="Text 13"/>
          <p:cNvSpPr/>
          <p:nvPr/>
        </p:nvSpPr>
        <p:spPr>
          <a:xfrm>
            <a:off x="6513463" y="5562600"/>
            <a:ext cx="1645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提高準確性與穩健性</a:t>
            </a:r>
            <a:endParaRPr lang="en-US" sz="1200" dirty="0"/>
          </a:p>
        </p:txBody>
      </p:sp>
      <p:sp>
        <p:nvSpPr>
          <p:cNvPr id="36" name="Text 14"/>
          <p:cNvSpPr/>
          <p:nvPr/>
        </p:nvSpPr>
        <p:spPr>
          <a:xfrm>
            <a:off x="6284863" y="5867400"/>
            <a:ext cx="5806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機器學習模型相互補充，降低單一模型的局限性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picture-search.skywork.ai/aippt/file_template/1953702771894779904/backgrounds/slide1_0d175f_df75949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863" y="1714500"/>
            <a:ext cx="3087588" cy="3429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1307" y="1962150"/>
            <a:ext cx="266700" cy="266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1363" y="3200400"/>
            <a:ext cx="133350" cy="1333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1363" y="3476625"/>
            <a:ext cx="133350" cy="1333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1363" y="3752850"/>
            <a:ext cx="133350" cy="1333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1363" y="4029075"/>
            <a:ext cx="133350" cy="1333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3248" y="1714500"/>
            <a:ext cx="3087588" cy="3429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30354" y="1962150"/>
            <a:ext cx="333375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3748" y="3200400"/>
            <a:ext cx="133350" cy="1333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3748" y="3476625"/>
            <a:ext cx="133350" cy="133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3748" y="3752850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3748" y="4029075"/>
            <a:ext cx="133350" cy="1333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55632" y="1714500"/>
            <a:ext cx="3087588" cy="3429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47027" y="1962150"/>
            <a:ext cx="30480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6132" y="3200400"/>
            <a:ext cx="133350" cy="1333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6132" y="3476625"/>
            <a:ext cx="133350" cy="1333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6132" y="3752850"/>
            <a:ext cx="133350" cy="1333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6132" y="4029075"/>
            <a:ext cx="133350" cy="13335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950863" y="548580"/>
            <a:ext cx="7751564" cy="4819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795"/>
              </a:lnSpc>
              <a:buNone/>
            </a:pPr>
            <a:r>
              <a:rPr lang="en-US" sz="4100" b="1" dirty="0">
                <a:solidFill>
                  <a:srgbClr val="4A90A4"/>
                </a:solidFill>
                <a:ea typeface="Arial" pitchFamily="34" charset="-122"/>
                <a:cs typeface="Arial" pitchFamily="34" charset="-120"/>
              </a:rPr>
              <a:t>STEM : </a:t>
            </a:r>
            <a:r>
              <a:rPr lang="en-US" sz="4100" b="1" dirty="0" err="1">
                <a:solidFill>
                  <a:srgbClr val="4A90A4"/>
                </a:solidFill>
                <a:ea typeface="Arial" pitchFamily="34" charset="-122"/>
                <a:cs typeface="Arial" pitchFamily="34" charset="-120"/>
              </a:rPr>
              <a:t>核心數學模型</a:t>
            </a:r>
            <a:endParaRPr lang="en-US" sz="4100" b="1" dirty="0"/>
          </a:p>
        </p:txBody>
      </p:sp>
      <p:sp>
        <p:nvSpPr>
          <p:cNvPr id="34" name="Text 1"/>
          <p:cNvSpPr/>
          <p:nvPr/>
        </p:nvSpPr>
        <p:spPr>
          <a:xfrm>
            <a:off x="950863" y="1165771"/>
            <a:ext cx="930187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 err="1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將個人特徵與工作條件轉化為可比較分數的數學公式模型</a:t>
            </a:r>
            <a:endParaRPr lang="en-US" sz="1500" dirty="0"/>
          </a:p>
        </p:txBody>
      </p:sp>
      <p:sp>
        <p:nvSpPr>
          <p:cNvPr id="35" name="Text 2"/>
          <p:cNvSpPr/>
          <p:nvPr/>
        </p:nvSpPr>
        <p:spPr>
          <a:xfrm>
            <a:off x="870704" y="2419350"/>
            <a:ext cx="324790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90A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個人價值模型 (PVM)</a:t>
            </a:r>
            <a:endParaRPr lang="en-US" sz="1500" dirty="0"/>
          </a:p>
        </p:txBody>
      </p:sp>
      <p:sp>
        <p:nvSpPr>
          <p:cNvPr id="36" name="Text 3"/>
          <p:cNvSpPr/>
          <p:nvPr/>
        </p:nvSpPr>
        <p:spPr>
          <a:xfrm>
            <a:off x="870704" y="2800350"/>
            <a:ext cx="3247906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025"/>
              </a:lnSpc>
              <a:buNone/>
            </a:pPr>
            <a:r>
              <a:rPr lang="en-US" sz="1350" i="1" dirty="0">
                <a:solidFill>
                  <a:srgbClr val="2D3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PVM(X) = Σ(ω</a:t>
            </a:r>
            <a:r>
              <a:rPr lang="en-US" sz="1013" i="1" dirty="0">
                <a:solidFill>
                  <a:srgbClr val="2D3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350" i="1" dirty="0">
                <a:solidFill>
                  <a:srgbClr val="2D3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f(X</a:t>
            </a:r>
            <a:r>
              <a:rPr lang="en-US" sz="1013" i="1" dirty="0">
                <a:solidFill>
                  <a:srgbClr val="2D3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350" i="1" dirty="0">
                <a:solidFill>
                  <a:srgbClr val="2D3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))</a:t>
            </a:r>
            <a:endParaRPr lang="en-US" sz="1350" dirty="0"/>
          </a:p>
        </p:txBody>
      </p:sp>
      <p:sp>
        <p:nvSpPr>
          <p:cNvPr id="37" name="Text 4"/>
          <p:cNvSpPr/>
          <p:nvPr/>
        </p:nvSpPr>
        <p:spPr>
          <a:xfrm>
            <a:off x="1160413" y="3171825"/>
            <a:ext cx="2897088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多元加權迴歸分析</a:t>
            </a:r>
            <a:endParaRPr lang="en-US" sz="1050" dirty="0"/>
          </a:p>
        </p:txBody>
      </p:sp>
      <p:sp>
        <p:nvSpPr>
          <p:cNvPr id="38" name="Text 5"/>
          <p:cNvSpPr/>
          <p:nvPr/>
        </p:nvSpPr>
        <p:spPr>
          <a:xfrm>
            <a:off x="1160413" y="3448050"/>
            <a:ext cx="2897088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量化學歷、年資、技能</a:t>
            </a:r>
            <a:endParaRPr lang="en-US" sz="1050" dirty="0"/>
          </a:p>
        </p:txBody>
      </p:sp>
      <p:sp>
        <p:nvSpPr>
          <p:cNvPr id="39" name="Text 6"/>
          <p:cNvSpPr/>
          <p:nvPr/>
        </p:nvSpPr>
        <p:spPr>
          <a:xfrm>
            <a:off x="1160413" y="3724275"/>
            <a:ext cx="2897088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基於人力資本理論</a:t>
            </a:r>
            <a:endParaRPr lang="en-US" sz="1050" dirty="0"/>
          </a:p>
        </p:txBody>
      </p:sp>
      <p:sp>
        <p:nvSpPr>
          <p:cNvPr id="40" name="Text 7"/>
          <p:cNvSpPr/>
          <p:nvPr/>
        </p:nvSpPr>
        <p:spPr>
          <a:xfrm>
            <a:off x="1160413" y="4000500"/>
            <a:ext cx="2897088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預測市場薪資區間</a:t>
            </a:r>
            <a:endParaRPr lang="en-US" sz="1050" dirty="0"/>
          </a:p>
        </p:txBody>
      </p:sp>
      <p:sp>
        <p:nvSpPr>
          <p:cNvPr id="41" name="Text 8"/>
          <p:cNvSpPr/>
          <p:nvPr/>
        </p:nvSpPr>
        <p:spPr>
          <a:xfrm>
            <a:off x="4473089" y="2419350"/>
            <a:ext cx="324790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4A90A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工作平衡指數</a:t>
            </a:r>
            <a:r>
              <a:rPr lang="en-US" sz="1500" b="1" dirty="0">
                <a:solidFill>
                  <a:srgbClr val="4A90A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(WLBX)</a:t>
            </a:r>
            <a:endParaRPr lang="en-US" sz="1500" dirty="0"/>
          </a:p>
        </p:txBody>
      </p:sp>
      <p:sp>
        <p:nvSpPr>
          <p:cNvPr id="42" name="Text 9"/>
          <p:cNvSpPr/>
          <p:nvPr/>
        </p:nvSpPr>
        <p:spPr>
          <a:xfrm>
            <a:off x="4473089" y="2800350"/>
            <a:ext cx="3247906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025"/>
              </a:lnSpc>
              <a:buNone/>
            </a:pPr>
            <a:r>
              <a:rPr lang="en-US" sz="1350" i="1" dirty="0">
                <a:solidFill>
                  <a:srgbClr val="2D3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WLBX = μ(工時) + μ(休假) + ...</a:t>
            </a:r>
            <a:endParaRPr lang="en-US" sz="1350" dirty="0"/>
          </a:p>
        </p:txBody>
      </p:sp>
      <p:sp>
        <p:nvSpPr>
          <p:cNvPr id="43" name="Text 10"/>
          <p:cNvSpPr/>
          <p:nvPr/>
        </p:nvSpPr>
        <p:spPr>
          <a:xfrm>
            <a:off x="4762798" y="3171825"/>
            <a:ext cx="2897088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模糊綜合評判法</a:t>
            </a:r>
            <a:endParaRPr lang="en-US" sz="1050" dirty="0"/>
          </a:p>
        </p:txBody>
      </p:sp>
      <p:sp>
        <p:nvSpPr>
          <p:cNvPr id="44" name="Text 11"/>
          <p:cNvSpPr/>
          <p:nvPr/>
        </p:nvSpPr>
        <p:spPr>
          <a:xfrm>
            <a:off x="4762798" y="3448050"/>
            <a:ext cx="2897088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工時、休假、加班頻率</a:t>
            </a:r>
            <a:endParaRPr lang="en-US" sz="1050" dirty="0"/>
          </a:p>
        </p:txBody>
      </p:sp>
      <p:sp>
        <p:nvSpPr>
          <p:cNvPr id="45" name="Text 12"/>
          <p:cNvSpPr/>
          <p:nvPr/>
        </p:nvSpPr>
        <p:spPr>
          <a:xfrm>
            <a:off x="4762798" y="3724275"/>
            <a:ext cx="2897088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隸屬函數轉換(0-1)</a:t>
            </a:r>
            <a:endParaRPr lang="en-US" sz="1050" dirty="0"/>
          </a:p>
        </p:txBody>
      </p:sp>
      <p:sp>
        <p:nvSpPr>
          <p:cNvPr id="46" name="Text 13"/>
          <p:cNvSpPr/>
          <p:nvPr/>
        </p:nvSpPr>
        <p:spPr>
          <a:xfrm>
            <a:off x="4762798" y="4000500"/>
            <a:ext cx="2897088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75"/>
              </a:lnSpc>
              <a:buSzPct val="100000"/>
              <a:buChar char="•"/>
            </a:pPr>
            <a:r>
              <a:rPr lang="en-US" sz="1050" dirty="0" err="1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勞基法規警示標註</a:t>
            </a:r>
            <a:r>
              <a:rPr lang="en-US" sz="1050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threshold</a:t>
            </a:r>
            <a:endParaRPr lang="en-US" sz="1050" dirty="0"/>
          </a:p>
        </p:txBody>
      </p:sp>
      <p:sp>
        <p:nvSpPr>
          <p:cNvPr id="47" name="Text 14"/>
          <p:cNvSpPr/>
          <p:nvPr/>
        </p:nvSpPr>
        <p:spPr>
          <a:xfrm>
            <a:off x="8075474" y="2419350"/>
            <a:ext cx="324790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100"/>
              </a:lnSpc>
            </a:pPr>
            <a:r>
              <a:rPr lang="en-US" sz="1500" b="1" dirty="0" err="1">
                <a:solidFill>
                  <a:srgbClr val="4A90A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綜合職位評分</a:t>
            </a:r>
            <a:endParaRPr lang="en-US" sz="1500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3F46295-A643-49BC-4CB5-973B1B624C79}"/>
              </a:ext>
            </a:extLst>
          </p:cNvPr>
          <p:cNvGrpSpPr/>
          <p:nvPr/>
        </p:nvGrpSpPr>
        <p:grpSpPr>
          <a:xfrm>
            <a:off x="8075474" y="2800350"/>
            <a:ext cx="3247906" cy="1400175"/>
            <a:chOff x="8075474" y="2800350"/>
            <a:chExt cx="3247906" cy="1400175"/>
          </a:xfrm>
        </p:grpSpPr>
        <p:sp>
          <p:nvSpPr>
            <p:cNvPr id="48" name="Text 15"/>
            <p:cNvSpPr/>
            <p:nvPr/>
          </p:nvSpPr>
          <p:spPr>
            <a:xfrm>
              <a:off x="8075474" y="2800350"/>
              <a:ext cx="3247906" cy="25717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2025"/>
                </a:lnSpc>
                <a:buNone/>
              </a:pPr>
              <a:r>
                <a:rPr lang="en-US" sz="1350" i="1" dirty="0">
                  <a:solidFill>
                    <a:srgbClr val="2D3748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JCS = TOPSIS(PVM, WLBX)</a:t>
              </a:r>
              <a:endParaRPr lang="en-US" sz="1350" dirty="0"/>
            </a:p>
          </p:txBody>
        </p:sp>
        <p:sp>
          <p:nvSpPr>
            <p:cNvPr id="49" name="Text 16"/>
            <p:cNvSpPr/>
            <p:nvPr/>
          </p:nvSpPr>
          <p:spPr>
            <a:xfrm>
              <a:off x="8365182" y="3171825"/>
              <a:ext cx="2897088" cy="20002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342900" indent="-342900" algn="l">
                <a:lnSpc>
                  <a:spcPts val="1575"/>
                </a:lnSpc>
                <a:buSzPct val="100000"/>
                <a:buChar char="•"/>
              </a:pPr>
              <a:r>
                <a:rPr lang="en-US" sz="1050" dirty="0">
                  <a:solidFill>
                    <a:srgbClr val="2D3748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多目標決策分析</a:t>
              </a:r>
              <a:endParaRPr lang="en-US" sz="1050" dirty="0"/>
            </a:p>
          </p:txBody>
        </p:sp>
        <p:sp>
          <p:nvSpPr>
            <p:cNvPr id="50" name="Text 17"/>
            <p:cNvSpPr/>
            <p:nvPr/>
          </p:nvSpPr>
          <p:spPr>
            <a:xfrm>
              <a:off x="8365182" y="3448050"/>
              <a:ext cx="2897088" cy="20002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342900" indent="-342900" algn="l">
                <a:lnSpc>
                  <a:spcPts val="1575"/>
                </a:lnSpc>
                <a:buSzPct val="100000"/>
                <a:buChar char="•"/>
              </a:pPr>
              <a:r>
                <a:rPr lang="en-US" sz="1050" dirty="0">
                  <a:solidFill>
                    <a:srgbClr val="2D3748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TOPSIS法評估方案</a:t>
              </a:r>
              <a:endParaRPr lang="en-US" sz="1050" dirty="0"/>
            </a:p>
          </p:txBody>
        </p:sp>
        <p:sp>
          <p:nvSpPr>
            <p:cNvPr id="51" name="Text 18"/>
            <p:cNvSpPr/>
            <p:nvPr/>
          </p:nvSpPr>
          <p:spPr>
            <a:xfrm>
              <a:off x="8365182" y="3724275"/>
              <a:ext cx="2897088" cy="20002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342900" indent="-342900" algn="l">
                <a:lnSpc>
                  <a:spcPts val="1575"/>
                </a:lnSpc>
                <a:buSzPct val="100000"/>
                <a:buChar char="•"/>
              </a:pPr>
              <a:r>
                <a:rPr lang="en-US" sz="1050" dirty="0">
                  <a:solidFill>
                    <a:srgbClr val="2D3748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理想解與負理想解距離</a:t>
              </a:r>
              <a:endParaRPr lang="en-US" sz="1050" dirty="0"/>
            </a:p>
          </p:txBody>
        </p:sp>
        <p:sp>
          <p:nvSpPr>
            <p:cNvPr id="52" name="Text 19"/>
            <p:cNvSpPr/>
            <p:nvPr/>
          </p:nvSpPr>
          <p:spPr>
            <a:xfrm>
              <a:off x="8365182" y="4000500"/>
              <a:ext cx="2897088" cy="20002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342900" indent="-342900" algn="l">
                <a:lnSpc>
                  <a:spcPts val="1575"/>
                </a:lnSpc>
                <a:buSzPct val="100000"/>
                <a:buChar char="•"/>
              </a:pPr>
              <a:r>
                <a:rPr lang="en-US" sz="1050" dirty="0">
                  <a:solidFill>
                    <a:srgbClr val="2D3748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全面客觀職涯評估</a:t>
              </a:r>
              <a:endParaRPr lang="en-US" sz="1050" dirty="0"/>
            </a:p>
          </p:txBody>
        </p:sp>
      </p:grpSp>
      <p:sp>
        <p:nvSpPr>
          <p:cNvPr id="60" name="Text 14">
            <a:extLst>
              <a:ext uri="{FF2B5EF4-FFF2-40B4-BE49-F238E27FC236}">
                <a16:creationId xmlns:a16="http://schemas.microsoft.com/office/drawing/2014/main" id="{F59A9379-9768-0071-DD57-31179B44B86C}"/>
              </a:ext>
            </a:extLst>
          </p:cNvPr>
          <p:cNvSpPr/>
          <p:nvPr/>
        </p:nvSpPr>
        <p:spPr>
          <a:xfrm>
            <a:off x="8189773" y="4674914"/>
            <a:ext cx="324790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100"/>
              </a:lnSpc>
            </a:pPr>
            <a:r>
              <a:rPr lang="en-US" sz="1500" b="1" dirty="0">
                <a:solidFill>
                  <a:srgbClr val="4A90A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(Job Comprehensive Score)</a:t>
            </a:r>
            <a:endParaRPr lang="en-US" sz="1500" dirty="0"/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AD3BF05E-0179-33A2-4B70-EAE68F504C53}"/>
              </a:ext>
            </a:extLst>
          </p:cNvPr>
          <p:cNvSpPr/>
          <p:nvPr/>
        </p:nvSpPr>
        <p:spPr>
          <a:xfrm>
            <a:off x="4472047" y="4691063"/>
            <a:ext cx="324790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100"/>
              </a:lnSpc>
            </a:pPr>
            <a:r>
              <a:rPr lang="en-US" sz="1500" b="1" dirty="0">
                <a:solidFill>
                  <a:srgbClr val="4A90A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(Work Life Balance</a:t>
            </a:r>
            <a:r>
              <a:rPr lang="zh-TW" altLang="en-US" sz="1500" b="1" dirty="0">
                <a:solidFill>
                  <a:srgbClr val="4A90A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altLang="zh-TW" sz="1500" b="1" dirty="0">
                <a:solidFill>
                  <a:srgbClr val="4A90A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Index</a:t>
            </a:r>
            <a:r>
              <a:rPr lang="en-US" sz="1500" b="1" dirty="0">
                <a:solidFill>
                  <a:srgbClr val="4A90A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)</a:t>
            </a:r>
            <a:endParaRPr lang="en-US" sz="1500" dirty="0"/>
          </a:p>
        </p:txBody>
      </p:sp>
      <p:sp>
        <p:nvSpPr>
          <p:cNvPr id="62" name="Text 14">
            <a:extLst>
              <a:ext uri="{FF2B5EF4-FFF2-40B4-BE49-F238E27FC236}">
                <a16:creationId xmlns:a16="http://schemas.microsoft.com/office/drawing/2014/main" id="{756DE8ED-57B4-8AD9-B8B9-5E4CF547A935}"/>
              </a:ext>
            </a:extLst>
          </p:cNvPr>
          <p:cNvSpPr/>
          <p:nvPr/>
        </p:nvSpPr>
        <p:spPr>
          <a:xfrm>
            <a:off x="737354" y="4691063"/>
            <a:ext cx="324790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100"/>
              </a:lnSpc>
            </a:pPr>
            <a:r>
              <a:rPr lang="en-US" sz="1500" b="1" dirty="0">
                <a:solidFill>
                  <a:srgbClr val="4A90A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(Personal Value Model)</a:t>
            </a:r>
            <a:endParaRPr lang="en-US" sz="1500" dirty="0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F1572B2-3AB2-CA59-E863-764A0BEC1A42}"/>
              </a:ext>
            </a:extLst>
          </p:cNvPr>
          <p:cNvGrpSpPr/>
          <p:nvPr/>
        </p:nvGrpSpPr>
        <p:grpSpPr>
          <a:xfrm>
            <a:off x="1698268" y="5651746"/>
            <a:ext cx="8464172" cy="478633"/>
            <a:chOff x="1091213" y="5638800"/>
            <a:chExt cx="8464172" cy="478633"/>
          </a:xfrm>
        </p:grpSpPr>
        <p:pic>
          <p:nvPicPr>
            <p:cNvPr id="24" name="Image 22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876667" y="5708279"/>
              <a:ext cx="245124" cy="280142"/>
            </a:xfrm>
            <a:prstGeom prst="rect">
              <a:avLst/>
            </a:prstGeom>
          </p:spPr>
        </p:pic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EE5F156-176F-BBA5-1357-BC22DDD7B72F}"/>
                </a:ext>
              </a:extLst>
            </p:cNvPr>
            <p:cNvGrpSpPr/>
            <p:nvPr/>
          </p:nvGrpSpPr>
          <p:grpSpPr>
            <a:xfrm>
              <a:off x="1091213" y="5657851"/>
              <a:ext cx="1598295" cy="459582"/>
              <a:chOff x="1091213" y="5657851"/>
              <a:chExt cx="1598295" cy="459582"/>
            </a:xfrm>
          </p:grpSpPr>
          <p:pic>
            <p:nvPicPr>
              <p:cNvPr id="22" name="Image 20" descr="preencoded.png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91213" y="5657851"/>
                <a:ext cx="1598295" cy="381000"/>
              </a:xfrm>
              <a:prstGeom prst="rect">
                <a:avLst/>
              </a:prstGeom>
            </p:spPr>
          </p:pic>
          <p:pic>
            <p:nvPicPr>
              <p:cNvPr id="23" name="Image 21" descr="preencoded.png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74713" y="5774533"/>
                <a:ext cx="133350" cy="152400"/>
              </a:xfrm>
              <a:prstGeom prst="rect">
                <a:avLst/>
              </a:prstGeom>
            </p:spPr>
          </p:pic>
          <p:sp>
            <p:nvSpPr>
              <p:cNvPr id="53" name="Text 20"/>
              <p:cNvSpPr/>
              <p:nvPr/>
            </p:nvSpPr>
            <p:spPr>
              <a:xfrm>
                <a:off x="1274713" y="5736433"/>
                <a:ext cx="1348740" cy="381000"/>
              </a:xfrm>
              <a:prstGeom prst="rect">
                <a:avLst/>
              </a:prstGeom>
              <a:noFill/>
              <a:ln/>
            </p:spPr>
            <p:txBody>
              <a:bodyPr vert="horz" wrap="square" lIns="0" tIns="0" rIns="0" bIns="0" rtlCol="0" anchor="t"/>
              <a:lstStyle/>
              <a:p>
                <a:pPr marL="0" indent="0" algn="ctr">
                  <a:lnSpc>
                    <a:spcPts val="1800"/>
                  </a:lnSpc>
                  <a:buNone/>
                </a:pPr>
                <a:r>
                  <a:rPr lang="en-US" sz="1200" dirty="0">
                    <a:solidFill>
                      <a:srgbClr val="2D3748"/>
                    </a:solidFill>
                    <a:latin typeface="ui-sans-serif" pitchFamily="34" charset="0"/>
                    <a:ea typeface="ui-sans-serif" pitchFamily="34" charset="-122"/>
                    <a:cs typeface="ui-sans-serif" pitchFamily="34" charset="-120"/>
                  </a:rPr>
                  <a:t>個人特徵</a:t>
                </a:r>
                <a:endParaRPr lang="en-US" sz="1200" dirty="0"/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1B1FA899-98E2-6308-2625-63D0EC16E93C}"/>
                </a:ext>
              </a:extLst>
            </p:cNvPr>
            <p:cNvGrpSpPr/>
            <p:nvPr/>
          </p:nvGrpSpPr>
          <p:grpSpPr>
            <a:xfrm>
              <a:off x="3331340" y="5657851"/>
              <a:ext cx="1598295" cy="456603"/>
              <a:chOff x="3331340" y="5657851"/>
              <a:chExt cx="1598295" cy="456603"/>
            </a:xfrm>
          </p:grpSpPr>
          <p:pic>
            <p:nvPicPr>
              <p:cNvPr id="63" name="Image 20" descr="preencoded.png">
                <a:extLst>
                  <a:ext uri="{FF2B5EF4-FFF2-40B4-BE49-F238E27FC236}">
                    <a16:creationId xmlns:a16="http://schemas.microsoft.com/office/drawing/2014/main" id="{A9D5C6FC-6811-068D-F2CE-E2F1C3B555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331340" y="5657851"/>
                <a:ext cx="1598295" cy="381000"/>
              </a:xfrm>
              <a:prstGeom prst="rect">
                <a:avLst/>
              </a:prstGeom>
            </p:spPr>
          </p:pic>
          <p:pic>
            <p:nvPicPr>
              <p:cNvPr id="26" name="Image 24" descr="preencoded.png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548509" y="5767388"/>
                <a:ext cx="152400" cy="152400"/>
              </a:xfrm>
              <a:prstGeom prst="rect">
                <a:avLst/>
              </a:prstGeom>
            </p:spPr>
          </p:pic>
          <p:sp>
            <p:nvSpPr>
              <p:cNvPr id="54" name="Text 21"/>
              <p:cNvSpPr/>
              <p:nvPr/>
            </p:nvSpPr>
            <p:spPr>
              <a:xfrm>
                <a:off x="3747565" y="5733454"/>
                <a:ext cx="861120" cy="381000"/>
              </a:xfrm>
              <a:prstGeom prst="rect">
                <a:avLst/>
              </a:prstGeom>
              <a:noFill/>
              <a:ln/>
            </p:spPr>
            <p:txBody>
              <a:bodyPr vert="horz" wrap="square" lIns="0" tIns="0" rIns="0" bIns="0" rtlCol="0" anchor="t"/>
              <a:lstStyle/>
              <a:p>
                <a:pPr marL="0" indent="0" algn="ctr">
                  <a:lnSpc>
                    <a:spcPts val="1800"/>
                  </a:lnSpc>
                  <a:buNone/>
                </a:pPr>
                <a:r>
                  <a:rPr lang="en-US" sz="1400" dirty="0">
                    <a:solidFill>
                      <a:srgbClr val="2D3748"/>
                    </a:solidFill>
                    <a:latin typeface="ui-sans-serif" pitchFamily="34" charset="0"/>
                    <a:ea typeface="ui-sans-serif" pitchFamily="34" charset="-122"/>
                    <a:cs typeface="ui-sans-serif" pitchFamily="34" charset="-120"/>
                  </a:rPr>
                  <a:t>PVM</a:t>
                </a:r>
                <a:endParaRPr lang="en-US" sz="1400" dirty="0"/>
              </a:p>
            </p:txBody>
          </p:sp>
        </p:grpSp>
        <p:pic>
          <p:nvPicPr>
            <p:cNvPr id="64" name="Image 22" descr="preencoded.png">
              <a:extLst>
                <a:ext uri="{FF2B5EF4-FFF2-40B4-BE49-F238E27FC236}">
                  <a16:creationId xmlns:a16="http://schemas.microsoft.com/office/drawing/2014/main" id="{BF5B615C-D5FE-E439-5DD1-3764CB472E6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133528" y="5692229"/>
              <a:ext cx="245124" cy="280142"/>
            </a:xfrm>
            <a:prstGeom prst="rect">
              <a:avLst/>
            </a:prstGeom>
          </p:spPr>
        </p:pic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51C45DD0-2A2B-45CE-9CDD-A0F8071522C8}"/>
                </a:ext>
              </a:extLst>
            </p:cNvPr>
            <p:cNvGrpSpPr/>
            <p:nvPr/>
          </p:nvGrpSpPr>
          <p:grpSpPr>
            <a:xfrm>
              <a:off x="5592287" y="5653088"/>
              <a:ext cx="1598295" cy="447675"/>
              <a:chOff x="5592287" y="5653088"/>
              <a:chExt cx="1598295" cy="447675"/>
            </a:xfrm>
          </p:grpSpPr>
          <p:pic>
            <p:nvPicPr>
              <p:cNvPr id="65" name="Image 20" descr="preencoded.png">
                <a:extLst>
                  <a:ext uri="{FF2B5EF4-FFF2-40B4-BE49-F238E27FC236}">
                    <a16:creationId xmlns:a16="http://schemas.microsoft.com/office/drawing/2014/main" id="{2386523D-6FF6-67E8-478D-E93931D5F1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592287" y="5653088"/>
                <a:ext cx="1598295" cy="381000"/>
              </a:xfrm>
              <a:prstGeom prst="rect">
                <a:avLst/>
              </a:prstGeom>
            </p:spPr>
          </p:pic>
          <p:pic>
            <p:nvPicPr>
              <p:cNvPr id="29" name="Image 27" descr="preencoded.png"/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826228" y="5774533"/>
                <a:ext cx="190500" cy="152400"/>
              </a:xfrm>
              <a:prstGeom prst="rect">
                <a:avLst/>
              </a:prstGeom>
            </p:spPr>
          </p:pic>
          <p:sp>
            <p:nvSpPr>
              <p:cNvPr id="55" name="Text 22"/>
              <p:cNvSpPr/>
              <p:nvPr/>
            </p:nvSpPr>
            <p:spPr>
              <a:xfrm>
                <a:off x="5949706" y="5719763"/>
                <a:ext cx="1016050" cy="381000"/>
              </a:xfrm>
              <a:prstGeom prst="rect">
                <a:avLst/>
              </a:prstGeom>
              <a:noFill/>
              <a:ln/>
            </p:spPr>
            <p:txBody>
              <a:bodyPr vert="horz" wrap="square" lIns="0" tIns="0" rIns="0" bIns="0" rtlCol="0" anchor="t"/>
              <a:lstStyle/>
              <a:p>
                <a:pPr marL="0" indent="0" algn="ctr">
                  <a:lnSpc>
                    <a:spcPts val="1800"/>
                  </a:lnSpc>
                  <a:buNone/>
                </a:pPr>
                <a:r>
                  <a:rPr lang="en-US" sz="1400" dirty="0">
                    <a:solidFill>
                      <a:srgbClr val="2D3748"/>
                    </a:solidFill>
                    <a:latin typeface="ui-sans-serif" pitchFamily="34" charset="0"/>
                    <a:ea typeface="ui-sans-serif" pitchFamily="34" charset="-122"/>
                    <a:cs typeface="ui-sans-serif" pitchFamily="34" charset="-120"/>
                  </a:rPr>
                  <a:t>WLBX</a:t>
                </a:r>
                <a:endParaRPr lang="en-US" sz="1400" dirty="0"/>
              </a:p>
            </p:txBody>
          </p:sp>
        </p:grpSp>
        <p:pic>
          <p:nvPicPr>
            <p:cNvPr id="66" name="Image 22" descr="preencoded.png">
              <a:extLst>
                <a:ext uri="{FF2B5EF4-FFF2-40B4-BE49-F238E27FC236}">
                  <a16:creationId xmlns:a16="http://schemas.microsoft.com/office/drawing/2014/main" id="{A4D5F772-A63F-7B39-BEC6-78ECC97F1A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404217" y="5689229"/>
              <a:ext cx="245124" cy="280142"/>
            </a:xfrm>
            <a:prstGeom prst="rect">
              <a:avLst/>
            </a:prstGeom>
          </p:spPr>
        </p:pic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5AE58D22-EDA0-CF72-5397-0F1569073BC7}"/>
                </a:ext>
              </a:extLst>
            </p:cNvPr>
            <p:cNvGrpSpPr/>
            <p:nvPr/>
          </p:nvGrpSpPr>
          <p:grpSpPr>
            <a:xfrm>
              <a:off x="7957090" y="5638800"/>
              <a:ext cx="1598295" cy="445814"/>
              <a:chOff x="7957090" y="5638800"/>
              <a:chExt cx="1598295" cy="445814"/>
            </a:xfrm>
          </p:grpSpPr>
          <p:pic>
            <p:nvPicPr>
              <p:cNvPr id="67" name="Image 20" descr="preencoded.png">
                <a:extLst>
                  <a:ext uri="{FF2B5EF4-FFF2-40B4-BE49-F238E27FC236}">
                    <a16:creationId xmlns:a16="http://schemas.microsoft.com/office/drawing/2014/main" id="{EB372473-DFAD-A691-5EFD-7A66AD4A43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957090" y="5638800"/>
                <a:ext cx="1598295" cy="381000"/>
              </a:xfrm>
              <a:prstGeom prst="rect">
                <a:avLst/>
              </a:prstGeom>
            </p:spPr>
          </p:pic>
          <p:pic>
            <p:nvPicPr>
              <p:cNvPr id="32" name="Image 30" descr="preencoded.png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183003" y="5762625"/>
                <a:ext cx="171450" cy="152400"/>
              </a:xfrm>
              <a:prstGeom prst="rect">
                <a:avLst/>
              </a:prstGeom>
            </p:spPr>
          </p:pic>
          <p:sp>
            <p:nvSpPr>
              <p:cNvPr id="56" name="Text 23"/>
              <p:cNvSpPr/>
              <p:nvPr/>
            </p:nvSpPr>
            <p:spPr>
              <a:xfrm>
                <a:off x="8471941" y="5703614"/>
                <a:ext cx="800546" cy="381000"/>
              </a:xfrm>
              <a:prstGeom prst="rect">
                <a:avLst/>
              </a:prstGeom>
              <a:noFill/>
              <a:ln/>
            </p:spPr>
            <p:txBody>
              <a:bodyPr vert="horz" wrap="square" lIns="0" tIns="0" rIns="0" bIns="0" rtlCol="0" anchor="t"/>
              <a:lstStyle/>
              <a:p>
                <a:pPr marL="0" indent="0" algn="ctr">
                  <a:lnSpc>
                    <a:spcPts val="1800"/>
                  </a:lnSpc>
                  <a:buNone/>
                </a:pPr>
                <a:r>
                  <a:rPr lang="en-US" sz="1400" dirty="0">
                    <a:solidFill>
                      <a:srgbClr val="2D3748"/>
                    </a:solidFill>
                    <a:latin typeface="ui-sans-serif" pitchFamily="34" charset="0"/>
                    <a:ea typeface="ui-sans-serif" pitchFamily="34" charset="-122"/>
                    <a:cs typeface="ui-sans-serif" pitchFamily="34" charset="-120"/>
                  </a:rPr>
                  <a:t>JCS</a:t>
                </a:r>
                <a:endParaRPr lang="en-US" sz="1400" dirty="0"/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picture-search.skywork.ai/aippt/file_template/1953702771894779904/backgrounds/slide1_0d175f_df75949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863" y="1714500"/>
            <a:ext cx="5067300" cy="22002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1363" y="190500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5188" y="1990725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6763" y="1714500"/>
            <a:ext cx="5067300" cy="22002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7263" y="1905000"/>
            <a:ext cx="476250" cy="4762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5375" y="1990725"/>
            <a:ext cx="200025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0863" y="4143375"/>
            <a:ext cx="5067300" cy="20288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1363" y="4333875"/>
            <a:ext cx="476250" cy="476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9475" y="4419600"/>
            <a:ext cx="200025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6763" y="4143375"/>
            <a:ext cx="5067300" cy="202882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7263" y="4333875"/>
            <a:ext cx="476250" cy="4762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1088" y="4419600"/>
            <a:ext cx="228600" cy="3048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950863" y="685800"/>
            <a:ext cx="10363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4A90A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STEM跨域整合數學模型</a:t>
            </a:r>
            <a:endParaRPr lang="en-US" sz="2700" dirty="0"/>
          </a:p>
        </p:txBody>
      </p:sp>
      <p:sp>
        <p:nvSpPr>
          <p:cNvPr id="17" name="Text 1"/>
          <p:cNvSpPr/>
          <p:nvPr/>
        </p:nvSpPr>
        <p:spPr>
          <a:xfrm>
            <a:off x="950863" y="1143000"/>
            <a:ext cx="124358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AI點亮STEM新思界：融合物理學、化學、電控與統計學的創新評核模型</a:t>
            </a:r>
            <a:endParaRPr lang="en-US" sz="1350" dirty="0"/>
          </a:p>
        </p:txBody>
      </p:sp>
      <p:sp>
        <p:nvSpPr>
          <p:cNvPr id="18" name="Text 2"/>
          <p:cNvSpPr/>
          <p:nvPr/>
        </p:nvSpPr>
        <p:spPr>
          <a:xfrm>
            <a:off x="1760488" y="2009775"/>
            <a:ext cx="24917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物理學—多因子向量模型</a:t>
            </a:r>
            <a:endParaRPr lang="en-US" sz="1500" dirty="0"/>
          </a:p>
        </p:txBody>
      </p:sp>
      <p:sp>
        <p:nvSpPr>
          <p:cNvPr id="19" name="Text 3"/>
          <p:cNvSpPr/>
          <p:nvPr/>
        </p:nvSpPr>
        <p:spPr>
          <a:xfrm>
            <a:off x="1141363" y="2495550"/>
            <a:ext cx="46863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將影響薪資的各項指標視為在多維空間中的不同向量，個人總體市場價值為這些向量的加權和。</a:t>
            </a:r>
            <a:endParaRPr lang="en-US" sz="1050" dirty="0"/>
          </a:p>
        </p:txBody>
      </p:sp>
      <p:sp>
        <p:nvSpPr>
          <p:cNvPr id="20" name="Text 4"/>
          <p:cNvSpPr/>
          <p:nvPr/>
        </p:nvSpPr>
        <p:spPr>
          <a:xfrm>
            <a:off x="1141363" y="2990850"/>
            <a:ext cx="46863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dirty="0">
                <a:solidFill>
                  <a:srgbClr val="2D3748"/>
                </a:solidFill>
                <a:latin typeface="KaTeX Math Individual" pitchFamily="34" charset="0"/>
                <a:ea typeface="KaTeX Math Individual" pitchFamily="34" charset="-122"/>
                <a:cs typeface="KaTeX Math Individual" pitchFamily="34" charset="-120"/>
              </a:rPr>
              <a:t>Value = Σ</a:t>
            </a:r>
            <a:r>
              <a:rPr lang="en-US" sz="1125" dirty="0">
                <a:solidFill>
                  <a:srgbClr val="2D3748"/>
                </a:solidFill>
                <a:latin typeface="KaTeX Math Individual" pitchFamily="34" charset="0"/>
                <a:ea typeface="KaTeX Math Individual" pitchFamily="34" charset="-122"/>
                <a:cs typeface="KaTeX Math Individual" pitchFamily="34" charset="-120"/>
              </a:rPr>
              <a:t>i=1</a:t>
            </a:r>
            <a:r>
              <a:rPr lang="en-US" sz="1500" dirty="0">
                <a:solidFill>
                  <a:srgbClr val="2D3748"/>
                </a:solidFill>
                <a:latin typeface="KaTeX Math Individual" pitchFamily="34" charset="0"/>
                <a:ea typeface="KaTeX Math Individual" pitchFamily="34" charset="-122"/>
                <a:cs typeface="KaTeX Math Individual" pitchFamily="34" charset="-120"/>
              </a:rPr>
              <a:t> w</a:t>
            </a:r>
            <a:r>
              <a:rPr lang="en-US" sz="1125" dirty="0">
                <a:solidFill>
                  <a:srgbClr val="2D3748"/>
                </a:solidFill>
                <a:latin typeface="KaTeX Math Individual" pitchFamily="34" charset="0"/>
                <a:ea typeface="KaTeX Math Individual" pitchFamily="34" charset="-122"/>
                <a:cs typeface="KaTeX Math Individual" pitchFamily="34" charset="-120"/>
              </a:rPr>
              <a:t>i</a:t>
            </a:r>
            <a:r>
              <a:rPr lang="en-US" sz="1500" dirty="0">
                <a:solidFill>
                  <a:srgbClr val="2D3748"/>
                </a:solidFill>
                <a:latin typeface="KaTeX Math Individual" pitchFamily="34" charset="0"/>
                <a:ea typeface="KaTeX Math Individual" pitchFamily="34" charset="-122"/>
                <a:cs typeface="KaTeX Math Individual" pitchFamily="34" charset="-120"/>
              </a:rPr>
              <a:t> · S</a:t>
            </a:r>
            <a:r>
              <a:rPr lang="en-US" sz="1125" dirty="0">
                <a:solidFill>
                  <a:srgbClr val="2D3748"/>
                </a:solidFill>
                <a:latin typeface="KaTeX Math Individual" pitchFamily="34" charset="0"/>
                <a:ea typeface="KaTeX Math Individual" pitchFamily="34" charset="-122"/>
                <a:cs typeface="KaTeX Math Individual" pitchFamily="34" charset="-120"/>
              </a:rPr>
              <a:t>i</a:t>
            </a:r>
            <a:endParaRPr lang="en-US" sz="1500" dirty="0"/>
          </a:p>
        </p:txBody>
      </p:sp>
      <p:sp>
        <p:nvSpPr>
          <p:cNvPr id="21" name="Text 5"/>
          <p:cNvSpPr/>
          <p:nvPr/>
        </p:nvSpPr>
        <p:spPr>
          <a:xfrm>
            <a:off x="7056388" y="2009775"/>
            <a:ext cx="20345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化學—技能催化模型</a:t>
            </a:r>
            <a:endParaRPr lang="en-US" sz="1500" dirty="0"/>
          </a:p>
        </p:txBody>
      </p:sp>
      <p:sp>
        <p:nvSpPr>
          <p:cNvPr id="22" name="Text 6"/>
          <p:cNvSpPr/>
          <p:nvPr/>
        </p:nvSpPr>
        <p:spPr>
          <a:xfrm>
            <a:off x="6437263" y="2495550"/>
            <a:ext cx="46863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借鑒化學反應動力學原理，特定技能組合的協同作用能非線性地大幅提升個人薪資潛力，類比為催化劑效應。</a:t>
            </a:r>
            <a:endParaRPr lang="en-US" sz="1050" dirty="0"/>
          </a:p>
        </p:txBody>
      </p:sp>
      <p:sp>
        <p:nvSpPr>
          <p:cNvPr id="23" name="Text 7"/>
          <p:cNvSpPr/>
          <p:nvPr/>
        </p:nvSpPr>
        <p:spPr>
          <a:xfrm>
            <a:off x="7864108" y="2990850"/>
            <a:ext cx="12230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技能A + 技能B →</a:t>
            </a:r>
            <a:endParaRPr lang="en-US" sz="1050" dirty="0"/>
          </a:p>
        </p:txBody>
      </p:sp>
      <p:sp>
        <p:nvSpPr>
          <p:cNvPr id="24" name="Text 8"/>
          <p:cNvSpPr/>
          <p:nvPr/>
        </p:nvSpPr>
        <p:spPr>
          <a:xfrm>
            <a:off x="9008060" y="2990850"/>
            <a:ext cx="640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6A3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催化效應</a:t>
            </a:r>
            <a:endParaRPr lang="en-US" sz="1050" dirty="0"/>
          </a:p>
        </p:txBody>
      </p:sp>
      <p:sp>
        <p:nvSpPr>
          <p:cNvPr id="25" name="Text 9"/>
          <p:cNvSpPr/>
          <p:nvPr/>
        </p:nvSpPr>
        <p:spPr>
          <a:xfrm>
            <a:off x="7277368" y="3257550"/>
            <a:ext cx="30060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單一技能線性增長 vs. 協同作用非線性增長</a:t>
            </a:r>
            <a:endParaRPr lang="en-US" sz="1050" dirty="0"/>
          </a:p>
        </p:txBody>
      </p:sp>
      <p:sp>
        <p:nvSpPr>
          <p:cNvPr id="26" name="Text 10"/>
          <p:cNvSpPr/>
          <p:nvPr/>
        </p:nvSpPr>
        <p:spPr>
          <a:xfrm>
            <a:off x="1760488" y="4438650"/>
            <a:ext cx="23888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電控—PID薪酬調節模型</a:t>
            </a:r>
            <a:endParaRPr lang="en-US" sz="1500" dirty="0"/>
          </a:p>
        </p:txBody>
      </p:sp>
      <p:sp>
        <p:nvSpPr>
          <p:cNvPr id="27" name="Text 11"/>
          <p:cNvSpPr/>
          <p:nvPr/>
        </p:nvSpPr>
        <p:spPr>
          <a:xfrm>
            <a:off x="1141363" y="4924425"/>
            <a:ext cx="46863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借鑒自動控制領域的PID控制器原理，為企業設計動態調薪建議，實現薪酬的精準管理和內部公平性。</a:t>
            </a:r>
            <a:endParaRPr lang="en-US" sz="1050" dirty="0"/>
          </a:p>
        </p:txBody>
      </p:sp>
      <p:sp>
        <p:nvSpPr>
          <p:cNvPr id="28" name="Text 12"/>
          <p:cNvSpPr/>
          <p:nvPr/>
        </p:nvSpPr>
        <p:spPr>
          <a:xfrm>
            <a:off x="672733" y="5419725"/>
            <a:ext cx="562356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dirty="0">
                <a:solidFill>
                  <a:srgbClr val="2D3748"/>
                </a:solidFill>
                <a:latin typeface="KaTeX Math Individual" pitchFamily="34" charset="0"/>
                <a:ea typeface="KaTeX Math Individual" pitchFamily="34" charset="-122"/>
                <a:cs typeface="KaTeX Math Individual" pitchFamily="34" charset="-120"/>
              </a:rPr>
              <a:t>Adjustment = K</a:t>
            </a:r>
            <a:r>
              <a:rPr lang="en-US" sz="1125" dirty="0">
                <a:solidFill>
                  <a:srgbClr val="2D3748"/>
                </a:solidFill>
                <a:latin typeface="KaTeX Math Individual" pitchFamily="34" charset="0"/>
                <a:ea typeface="KaTeX Math Individual" pitchFamily="34" charset="-122"/>
                <a:cs typeface="KaTeX Math Individual" pitchFamily="34" charset="-120"/>
              </a:rPr>
              <a:t>p</a:t>
            </a:r>
            <a:r>
              <a:rPr lang="en-US" sz="1500" dirty="0">
                <a:solidFill>
                  <a:srgbClr val="2D3748"/>
                </a:solidFill>
                <a:latin typeface="KaTeX Math Individual" pitchFamily="34" charset="0"/>
                <a:ea typeface="KaTeX Math Individual" pitchFamily="34" charset="-122"/>
                <a:cs typeface="KaTeX Math Individual" pitchFamily="34" charset="-120"/>
              </a:rPr>
              <a:t> · e(t) + K</a:t>
            </a:r>
            <a:r>
              <a:rPr lang="en-US" sz="1125" dirty="0">
                <a:solidFill>
                  <a:srgbClr val="2D3748"/>
                </a:solidFill>
                <a:latin typeface="KaTeX Math Individual" pitchFamily="34" charset="0"/>
                <a:ea typeface="KaTeX Math Individual" pitchFamily="34" charset="-122"/>
                <a:cs typeface="KaTeX Math Individual" pitchFamily="34" charset="-120"/>
              </a:rPr>
              <a:t>i</a:t>
            </a:r>
            <a:r>
              <a:rPr lang="en-US" sz="1500" dirty="0">
                <a:solidFill>
                  <a:srgbClr val="2D3748"/>
                </a:solidFill>
                <a:latin typeface="KaTeX Math Individual" pitchFamily="34" charset="0"/>
                <a:ea typeface="KaTeX Math Individual" pitchFamily="34" charset="-122"/>
                <a:cs typeface="KaTeX Math Individual" pitchFamily="34" charset="-120"/>
              </a:rPr>
              <a:t> · ∫e(t)dt + K</a:t>
            </a:r>
            <a:r>
              <a:rPr lang="en-US" sz="1125" dirty="0">
                <a:solidFill>
                  <a:srgbClr val="2D3748"/>
                </a:solidFill>
                <a:latin typeface="KaTeX Math Individual" pitchFamily="34" charset="0"/>
                <a:ea typeface="KaTeX Math Individual" pitchFamily="34" charset="-122"/>
                <a:cs typeface="KaTeX Math Individual" pitchFamily="34" charset="-120"/>
              </a:rPr>
              <a:t>d</a:t>
            </a:r>
            <a:r>
              <a:rPr lang="en-US" sz="1500" dirty="0">
                <a:solidFill>
                  <a:srgbClr val="2D3748"/>
                </a:solidFill>
                <a:latin typeface="KaTeX Math Individual" pitchFamily="34" charset="0"/>
                <a:ea typeface="KaTeX Math Individual" pitchFamily="34" charset="-122"/>
                <a:cs typeface="KaTeX Math Individual" pitchFamily="34" charset="-120"/>
              </a:rPr>
              <a:t> · de(t)/dt</a:t>
            </a:r>
            <a:endParaRPr lang="en-US" sz="1500" dirty="0"/>
          </a:p>
        </p:txBody>
      </p:sp>
      <p:sp>
        <p:nvSpPr>
          <p:cNvPr id="29" name="Text 13"/>
          <p:cNvSpPr/>
          <p:nvPr/>
        </p:nvSpPr>
        <p:spPr>
          <a:xfrm>
            <a:off x="7056388" y="4438650"/>
            <a:ext cx="22631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統計學—市場薪資比率</a:t>
            </a:r>
            <a:endParaRPr lang="en-US" sz="1500" dirty="0"/>
          </a:p>
        </p:txBody>
      </p:sp>
      <p:sp>
        <p:nvSpPr>
          <p:cNvPr id="30" name="Text 14"/>
          <p:cNvSpPr/>
          <p:nvPr/>
        </p:nvSpPr>
        <p:spPr>
          <a:xfrm>
            <a:off x="6437263" y="4924425"/>
            <a:ext cx="46863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Compa-Ratio是人力資源管理中常用的統計指標，用於客觀定位個人薪資在市場或公司內部薪酬結構中的水平。</a:t>
            </a:r>
            <a:endParaRPr lang="en-US" sz="1050" dirty="0"/>
          </a:p>
        </p:txBody>
      </p:sp>
      <p:sp>
        <p:nvSpPr>
          <p:cNvPr id="31" name="Text 15"/>
          <p:cNvSpPr/>
          <p:nvPr/>
        </p:nvSpPr>
        <p:spPr>
          <a:xfrm>
            <a:off x="5968633" y="5419725"/>
            <a:ext cx="562356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dirty="0">
                <a:solidFill>
                  <a:srgbClr val="2D3748"/>
                </a:solidFill>
                <a:latin typeface="KaTeX Math Individual" pitchFamily="34" charset="0"/>
                <a:ea typeface="KaTeX Math Individual" pitchFamily="34" charset="-122"/>
                <a:cs typeface="KaTeX Math Individual" pitchFamily="34" charset="-120"/>
              </a:rPr>
              <a:t>Compa Ratio = (實際薪資 / 薪資範圍中位數) × 100%</a:t>
            </a:r>
            <a:endParaRPr lang="en-US" sz="1500" dirty="0"/>
          </a:p>
        </p:txBody>
      </p:sp>
      <p:sp>
        <p:nvSpPr>
          <p:cNvPr id="32" name="Text 16"/>
          <p:cNvSpPr/>
          <p:nvPr/>
        </p:nvSpPr>
        <p:spPr>
          <a:xfrm>
            <a:off x="10323463" y="6324600"/>
            <a:ext cx="110120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第6頁 / 共10頁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picture-search.skywork.ai/aippt/file_template/1953702771894779904/backgrounds/slide1_0d175f_df75949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863" y="2057400"/>
            <a:ext cx="4977705" cy="20097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9463" y="2286000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0913" y="241935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4318" y="2057400"/>
            <a:ext cx="4977705" cy="20097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2918" y="2286000"/>
            <a:ext cx="571500" cy="571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5793" y="2419350"/>
            <a:ext cx="28575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0863" y="4352925"/>
            <a:ext cx="4977705" cy="200977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79463" y="4581525"/>
            <a:ext cx="571500" cy="571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36625" y="4714875"/>
            <a:ext cx="257175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4318" y="4352925"/>
            <a:ext cx="4977705" cy="200977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2918" y="4581525"/>
            <a:ext cx="571500" cy="571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85793" y="4714875"/>
            <a:ext cx="285750" cy="3048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9959429" y="411361"/>
            <a:ext cx="150876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創新科技 · 職涯規劃</a:t>
            </a:r>
            <a:endParaRPr lang="en-US" sz="1050" dirty="0"/>
          </a:p>
        </p:txBody>
      </p:sp>
      <p:sp>
        <p:nvSpPr>
          <p:cNvPr id="17" name="Text 1"/>
          <p:cNvSpPr/>
          <p:nvPr/>
        </p:nvSpPr>
        <p:spPr>
          <a:xfrm>
            <a:off x="950863" y="822871"/>
            <a:ext cx="8534400" cy="4799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780"/>
              </a:lnSpc>
              <a:buNone/>
            </a:pPr>
            <a:r>
              <a:rPr lang="en-US" sz="3150" b="1" dirty="0">
                <a:solidFill>
                  <a:srgbClr val="4A90A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系統功能展示</a:t>
            </a:r>
            <a:endParaRPr lang="en-US" sz="3150" dirty="0"/>
          </a:p>
        </p:txBody>
      </p:sp>
      <p:sp>
        <p:nvSpPr>
          <p:cNvPr id="18" name="Text 2"/>
          <p:cNvSpPr/>
          <p:nvPr/>
        </p:nvSpPr>
        <p:spPr>
          <a:xfrm>
            <a:off x="950863" y="1508671"/>
            <a:ext cx="85344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dirty="0">
                <a:solidFill>
                  <a:srgbClr val="2D374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薪酬探測家系統的四大核心功能</a:t>
            </a:r>
            <a:endParaRPr lang="en-US" sz="1500" dirty="0"/>
          </a:p>
        </p:txBody>
      </p:sp>
      <p:sp>
        <p:nvSpPr>
          <p:cNvPr id="19" name="Text 3"/>
          <p:cNvSpPr/>
          <p:nvPr/>
        </p:nvSpPr>
        <p:spPr>
          <a:xfrm>
            <a:off x="1903363" y="2462213"/>
            <a:ext cx="137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市場薪資分析</a:t>
            </a:r>
            <a:endParaRPr lang="en-US" sz="1500" dirty="0"/>
          </a:p>
        </p:txBody>
      </p:sp>
      <p:sp>
        <p:nvSpPr>
          <p:cNvPr id="20" name="Text 4"/>
          <p:cNvSpPr/>
          <p:nvPr/>
        </p:nvSpPr>
        <p:spPr>
          <a:xfrm>
            <a:off x="1179463" y="3152775"/>
            <a:ext cx="4520505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透過AI爬蟲技術收集各大求職網站、行業論壇的薪資數據，結合STEM多維模型分析市場趨勢，提供即時透明的薪資行情報告，消除資訊不對稱問題。</a:t>
            </a:r>
            <a:endParaRPr lang="en-US" sz="1200" dirty="0"/>
          </a:p>
        </p:txBody>
      </p:sp>
      <p:sp>
        <p:nvSpPr>
          <p:cNvPr id="21" name="Text 5"/>
          <p:cNvSpPr/>
          <p:nvPr/>
        </p:nvSpPr>
        <p:spPr>
          <a:xfrm>
            <a:off x="7166818" y="2462213"/>
            <a:ext cx="137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個人價值定位</a:t>
            </a:r>
            <a:endParaRPr lang="en-US" sz="1500" dirty="0"/>
          </a:p>
        </p:txBody>
      </p:sp>
      <p:sp>
        <p:nvSpPr>
          <p:cNvPr id="22" name="Text 6"/>
          <p:cNvSpPr/>
          <p:nvPr/>
        </p:nvSpPr>
        <p:spPr>
          <a:xfrm>
            <a:off x="6442918" y="3152775"/>
            <a:ext cx="452050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基於深度學習模型評估個人技能組合、經驗與市場需求的匹配度，提供客觀的個人市場價值評分，協助用戶在薪資談判中取得優勢。</a:t>
            </a:r>
            <a:endParaRPr lang="en-US" sz="1200" dirty="0"/>
          </a:p>
        </p:txBody>
      </p:sp>
      <p:sp>
        <p:nvSpPr>
          <p:cNvPr id="23" name="Text 7"/>
          <p:cNvSpPr/>
          <p:nvPr/>
        </p:nvSpPr>
        <p:spPr>
          <a:xfrm>
            <a:off x="1903363" y="4757738"/>
            <a:ext cx="137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職涯發展規劃</a:t>
            </a:r>
            <a:endParaRPr lang="en-US" sz="1500" dirty="0"/>
          </a:p>
        </p:txBody>
      </p:sp>
      <p:sp>
        <p:nvSpPr>
          <p:cNvPr id="24" name="Text 8"/>
          <p:cNvSpPr/>
          <p:nvPr/>
        </p:nvSpPr>
        <p:spPr>
          <a:xfrm>
            <a:off x="1179463" y="5448300"/>
            <a:ext cx="452050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根據個人特質與市場趨勢，提供技能精進方向、跑道轉換建議及潛在薪資增長曲線，制定科學前瞻的職涯發展路徑。</a:t>
            </a:r>
            <a:endParaRPr lang="en-US" sz="1200" dirty="0"/>
          </a:p>
        </p:txBody>
      </p:sp>
      <p:sp>
        <p:nvSpPr>
          <p:cNvPr id="25" name="Text 9"/>
          <p:cNvSpPr/>
          <p:nvPr/>
        </p:nvSpPr>
        <p:spPr>
          <a:xfrm>
            <a:off x="7166818" y="4757738"/>
            <a:ext cx="1828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工作生活平衡評估</a:t>
            </a:r>
            <a:endParaRPr lang="en-US" sz="1500" dirty="0"/>
          </a:p>
        </p:txBody>
      </p:sp>
      <p:sp>
        <p:nvSpPr>
          <p:cNvPr id="26" name="Text 10"/>
          <p:cNvSpPr/>
          <p:nvPr/>
        </p:nvSpPr>
        <p:spPr>
          <a:xfrm>
            <a:off x="6442918" y="5448300"/>
            <a:ext cx="4520505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不僅考量薪資待遇，還評估工作時數、加班頻率、休假制度等「工作生活平衡」因素，協助用戶全面了解工作條件，做出更明智的職涯選擇。</a:t>
            </a:r>
            <a:endParaRPr lang="en-US" sz="1200" dirty="0"/>
          </a:p>
        </p:txBody>
      </p:sp>
      <p:sp>
        <p:nvSpPr>
          <p:cNvPr id="27" name="Text 11"/>
          <p:cNvSpPr/>
          <p:nvPr/>
        </p:nvSpPr>
        <p:spPr>
          <a:xfrm>
            <a:off x="10860137" y="6438900"/>
            <a:ext cx="457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/ 10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picture-search.skywork.ai/aippt/file_template/1953702771894779904/backgrounds/slide1_0d175f_df75949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863" y="1508671"/>
            <a:ext cx="3108871" cy="30003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9474" y="1699171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1399" y="1813471"/>
            <a:ext cx="2476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1363" y="2832646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1363" y="3366046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1363" y="3899446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7953" y="1508671"/>
            <a:ext cx="3108871" cy="300037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46564" y="1699171"/>
            <a:ext cx="571500" cy="571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22777" y="1813471"/>
            <a:ext cx="219075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68453" y="2832646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68453" y="3366046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68453" y="3899446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05043" y="1508671"/>
            <a:ext cx="3108871" cy="300037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73654" y="1699171"/>
            <a:ext cx="571500" cy="571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16529" y="1813471"/>
            <a:ext cx="285750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95543" y="2832646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95543" y="3366046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95543" y="3899446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50863" y="4737646"/>
            <a:ext cx="10363200" cy="12192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41363" y="4966246"/>
            <a:ext cx="190500" cy="1905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950863" y="685800"/>
            <a:ext cx="10363200" cy="5200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095"/>
              </a:lnSpc>
              <a:buNone/>
            </a:pPr>
            <a:r>
              <a:rPr lang="en-US" sz="3150" b="1" dirty="0">
                <a:solidFill>
                  <a:srgbClr val="4A90A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成效預估與社會貢獻</a:t>
            </a:r>
            <a:endParaRPr lang="en-US" sz="3150" dirty="0"/>
          </a:p>
        </p:txBody>
      </p:sp>
      <p:sp>
        <p:nvSpPr>
          <p:cNvPr id="25" name="Text 1"/>
          <p:cNvSpPr/>
          <p:nvPr/>
        </p:nvSpPr>
        <p:spPr>
          <a:xfrm>
            <a:off x="1933724" y="2413546"/>
            <a:ext cx="137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對個人的價值</a:t>
            </a:r>
            <a:endParaRPr lang="en-US" sz="1500" dirty="0"/>
          </a:p>
        </p:txBody>
      </p:sp>
      <p:sp>
        <p:nvSpPr>
          <p:cNvPr id="26" name="Text 2"/>
          <p:cNvSpPr/>
          <p:nvPr/>
        </p:nvSpPr>
        <p:spPr>
          <a:xfrm>
            <a:off x="1369963" y="2794546"/>
            <a:ext cx="249927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 err="1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提供客觀精準的市場薪資行情數據</a:t>
            </a:r>
            <a:r>
              <a:rPr lang="en-US" sz="12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， </a:t>
            </a:r>
            <a:r>
              <a:rPr lang="en-US" sz="1200" dirty="0" err="1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加強薪資談判籌碼資訊</a:t>
            </a:r>
            <a:endParaRPr lang="en-US" sz="1200" dirty="0"/>
          </a:p>
        </p:txBody>
      </p:sp>
      <p:sp>
        <p:nvSpPr>
          <p:cNvPr id="27" name="Text 3"/>
          <p:cNvSpPr/>
          <p:nvPr/>
        </p:nvSpPr>
        <p:spPr>
          <a:xfrm>
            <a:off x="1369963" y="3327946"/>
            <a:ext cx="249927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自動化整合分析市場資訊，節省時間與金錢成本</a:t>
            </a:r>
            <a:endParaRPr lang="en-US" sz="1200" dirty="0"/>
          </a:p>
        </p:txBody>
      </p:sp>
      <p:sp>
        <p:nvSpPr>
          <p:cNvPr id="28" name="Text 4"/>
          <p:cNvSpPr/>
          <p:nvPr/>
        </p:nvSpPr>
        <p:spPr>
          <a:xfrm>
            <a:off x="1369963" y="3861346"/>
            <a:ext cx="249927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提供個人化技能精進方向與職涯發展建議</a:t>
            </a:r>
            <a:endParaRPr lang="en-US" sz="1200" dirty="0"/>
          </a:p>
        </p:txBody>
      </p:sp>
      <p:sp>
        <p:nvSpPr>
          <p:cNvPr id="29" name="Text 5"/>
          <p:cNvSpPr/>
          <p:nvPr/>
        </p:nvSpPr>
        <p:spPr>
          <a:xfrm>
            <a:off x="5560814" y="2413546"/>
            <a:ext cx="137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653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對企業的價值</a:t>
            </a:r>
            <a:endParaRPr lang="en-US" sz="1500" dirty="0"/>
          </a:p>
        </p:txBody>
      </p:sp>
      <p:sp>
        <p:nvSpPr>
          <p:cNvPr id="30" name="Text 6"/>
          <p:cNvSpPr/>
          <p:nvPr/>
        </p:nvSpPr>
        <p:spPr>
          <a:xfrm>
            <a:off x="4997053" y="2794546"/>
            <a:ext cx="249927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優化人才策略，制定具競爭力且公平的薪酬體系</a:t>
            </a:r>
            <a:endParaRPr lang="en-US" sz="1200" dirty="0"/>
          </a:p>
        </p:txBody>
      </p:sp>
      <p:sp>
        <p:nvSpPr>
          <p:cNvPr id="31" name="Text 7"/>
          <p:cNvSpPr/>
          <p:nvPr/>
        </p:nvSpPr>
        <p:spPr>
          <a:xfrm>
            <a:off x="4997053" y="3327946"/>
            <a:ext cx="249927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透過AI模型預測員工離職風險，降低營運風險</a:t>
            </a:r>
            <a:endParaRPr lang="en-US" sz="1200" dirty="0"/>
          </a:p>
        </p:txBody>
      </p:sp>
      <p:sp>
        <p:nvSpPr>
          <p:cNvPr id="32" name="Text 8"/>
          <p:cNvSpPr/>
          <p:nvPr/>
        </p:nvSpPr>
        <p:spPr>
          <a:xfrm>
            <a:off x="4997053" y="3861346"/>
            <a:ext cx="249927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提供數據驅動的客觀薪資數據，提升決策效率</a:t>
            </a:r>
            <a:endParaRPr lang="en-US" sz="1200" dirty="0"/>
          </a:p>
        </p:txBody>
      </p:sp>
      <p:sp>
        <p:nvSpPr>
          <p:cNvPr id="33" name="Text 9"/>
          <p:cNvSpPr/>
          <p:nvPr/>
        </p:nvSpPr>
        <p:spPr>
          <a:xfrm>
            <a:off x="9187904" y="2413546"/>
            <a:ext cx="137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2400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對社會的貢獻</a:t>
            </a:r>
            <a:endParaRPr lang="en-US" sz="1500" dirty="0"/>
          </a:p>
        </p:txBody>
      </p:sp>
      <p:sp>
        <p:nvSpPr>
          <p:cNvPr id="34" name="Text 10"/>
          <p:cNvSpPr/>
          <p:nvPr/>
        </p:nvSpPr>
        <p:spPr>
          <a:xfrm>
            <a:off x="8624143" y="2794546"/>
            <a:ext cx="249927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促進薪資透明化，打破勞動市場的資訊不對稱</a:t>
            </a:r>
            <a:endParaRPr lang="en-US" sz="1200" dirty="0"/>
          </a:p>
        </p:txBody>
      </p:sp>
      <p:sp>
        <p:nvSpPr>
          <p:cNvPr id="35" name="Text 11"/>
          <p:cNvSpPr/>
          <p:nvPr/>
        </p:nvSpPr>
        <p:spPr>
          <a:xfrm>
            <a:off x="8624143" y="3327946"/>
            <a:ext cx="249927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 err="1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推動企業因資訊透明化加強正視勞工權益</a:t>
            </a:r>
            <a:endParaRPr lang="en-US" sz="1200" dirty="0"/>
          </a:p>
        </p:txBody>
      </p:sp>
      <p:sp>
        <p:nvSpPr>
          <p:cNvPr id="36" name="Text 12"/>
          <p:cNvSpPr/>
          <p:nvPr/>
        </p:nvSpPr>
        <p:spPr>
          <a:xfrm>
            <a:off x="8624143" y="3861346"/>
            <a:ext cx="249927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促進工作生活平衡，塑造更友善的勞動環境，推動社會文明進步</a:t>
            </a:r>
            <a:endParaRPr lang="en-US" sz="1200" dirty="0"/>
          </a:p>
        </p:txBody>
      </p:sp>
      <p:sp>
        <p:nvSpPr>
          <p:cNvPr id="37" name="Text 13"/>
          <p:cNvSpPr/>
          <p:nvPr/>
        </p:nvSpPr>
        <p:spPr>
          <a:xfrm>
            <a:off x="1446163" y="4928146"/>
            <a:ext cx="9982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行動方案與SDGs目標連結</a:t>
            </a:r>
            <a:endParaRPr lang="en-US" sz="1500" dirty="0"/>
          </a:p>
        </p:txBody>
      </p:sp>
      <p:sp>
        <p:nvSpPr>
          <p:cNvPr id="38" name="Text 14"/>
          <p:cNvSpPr/>
          <p:nvPr/>
        </p:nvSpPr>
        <p:spPr>
          <a:xfrm>
            <a:off x="1141363" y="5309146"/>
            <a:ext cx="9982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4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本提案系統結合AI與數學模型，期望降低薪資不平等、提升職涯發展機會均等，以及促進工作生活平衡，為推動SDGs目標8「體面工作和經濟增長」盡一份力。</a:t>
            </a:r>
            <a:endParaRPr lang="en-US" sz="1400" dirty="0"/>
          </a:p>
          <a:p>
            <a:pPr>
              <a:lnSpc>
                <a:spcPts val="1800"/>
              </a:lnSpc>
            </a:pP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file_template/1953702771894779904/backgrounds/slide12_db6fc4_cf4c4a0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Text 0">
            <a:extLst>
              <a:ext uri="{FF2B5EF4-FFF2-40B4-BE49-F238E27FC236}">
                <a16:creationId xmlns:a16="http://schemas.microsoft.com/office/drawing/2014/main" id="{9C6C7564-00ED-D121-DB30-9749641937AF}"/>
              </a:ext>
            </a:extLst>
          </p:cNvPr>
          <p:cNvSpPr/>
          <p:nvPr/>
        </p:nvSpPr>
        <p:spPr>
          <a:xfrm>
            <a:off x="1868803" y="3086100"/>
            <a:ext cx="8454394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7200" b="1" dirty="0">
                <a:solidFill>
                  <a:srgbClr val="2DD4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7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1047</Words>
  <Application>Microsoft Macintosh PowerPoint</Application>
  <PresentationFormat>Widescreen</PresentationFormat>
  <Paragraphs>232</Paragraphs>
  <Slides>17</Slides>
  <Notes>17</Notes>
  <HiddenSlides>8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KaTeX Math Individual</vt:lpstr>
      <vt:lpstr>Noto Sans TC</vt:lpstr>
      <vt:lpstr>ui-sans-serif</vt:lpstr>
      <vt:lpstr>Arial</vt:lpstr>
      <vt:lpstr>DM Sans</vt:lpstr>
      <vt:lpstr>Montserrat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Andy Lu</cp:lastModifiedBy>
  <cp:revision>5</cp:revision>
  <dcterms:created xsi:type="dcterms:W3CDTF">2025-11-01T16:37:54Z</dcterms:created>
  <dcterms:modified xsi:type="dcterms:W3CDTF">2025-11-02T04:43:01Z</dcterms:modified>
</cp:coreProperties>
</file>